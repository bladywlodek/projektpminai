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58" r:id="rId7"/>
    <p:sldId id="259" r:id="rId8"/>
    <p:sldId id="286" r:id="rId9"/>
    <p:sldId id="278" r:id="rId10"/>
    <p:sldId id="279" r:id="rId11"/>
    <p:sldId id="261" r:id="rId12"/>
    <p:sldId id="280" r:id="rId13"/>
    <p:sldId id="281" r:id="rId14"/>
    <p:sldId id="262" r:id="rId15"/>
    <p:sldId id="282" r:id="rId16"/>
    <p:sldId id="287" r:id="rId17"/>
    <p:sldId id="270" r:id="rId18"/>
    <p:sldId id="283" r:id="rId19"/>
    <p:sldId id="284" r:id="rId20"/>
    <p:sldId id="285" r:id="rId21"/>
    <p:sldId id="288" r:id="rId22"/>
    <p:sldId id="264" r:id="rId23"/>
    <p:sldId id="274" r:id="rId24"/>
    <p:sldId id="275" r:id="rId25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1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6432" autoAdjust="0"/>
  </p:normalViewPr>
  <p:slideViewPr>
    <p:cSldViewPr snapToGrid="0">
      <p:cViewPr varScale="1">
        <p:scale>
          <a:sx n="95" d="100"/>
          <a:sy n="95" d="100"/>
        </p:scale>
        <p:origin x="1080" y="96"/>
      </p:cViewPr>
      <p:guideLst>
        <p:guide pos="551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534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60F4EB-5C53-4C1F-A468-AE785172C6D3}" type="datetime1">
              <a:rPr lang="pl-PL" smtClean="0"/>
              <a:t>15.06.2026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B95B5C-AE81-486B-8299-C690ADF087B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477756-2B7A-4210-ACA2-A6DC4EBDCE8C}" type="datetime1">
              <a:rPr lang="pl-PL" noProof="0" smtClean="0"/>
              <a:t>15.06.2026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22D2F8-28A7-48E8-ADD3-E9583D47D83D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6536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090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8203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88AF-56D3-F11E-7956-D9737EF6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07E0746D-5740-908B-61BD-AC808368A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5FA191BD-8ACC-AB62-B103-C2E3F7BE9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1489C4FC-E3FA-6B9F-B07C-495FD73E0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9297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4BFAB-3B43-46ED-987C-8649F1AF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F95BF600-3509-E127-6190-A72C7294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A8AC6A82-4DBF-6431-E9E9-1D7C37142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193014A0-21C3-1D7F-A00D-D4A6D9081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499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437D-1AE2-2389-1918-519E917F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AC379B74-0CFA-0311-2EB8-20E8F1C77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336C312C-C397-5B73-6096-1AB03C410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6A58F4FB-06FE-BD9C-893D-9CF625B61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4086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7128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55FBF-7F69-FF5A-DD99-F180FB74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FF259A5A-A1B9-876D-B735-EFD0267DC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C845A1ED-95E0-233F-CB0D-05A8624A8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23F218FA-18A9-17C3-334B-CBD9A3C61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984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0D35-59DC-E915-2375-F4E8F371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83830603-FCFF-C7B5-909F-02209986B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9A1D4942-589D-F016-CF8C-BAD2DB2E2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FAAA980E-D621-BBD7-EF68-E98A0584F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0770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8744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87E3-F824-6E1F-08E6-3656D4B55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828CC83C-58C7-B316-BBBD-0C8C54A67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4D444226-A284-93B5-FA99-B28433CA5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B152E4AE-6EC9-951F-49F9-ED82917AB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1703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E09F2-EC7C-41BB-137C-E03B4BD8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0CEF115B-AC5D-676E-779F-E8A617224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70048966-0FCC-0CD4-9118-6ED660E5A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988BF186-6FED-E8C6-8215-9E57C2E79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48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009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B234-1FE4-FCA5-8C10-3EC46C7A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974F163B-7D78-B8E4-8D9F-41B182269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E507641E-FC9B-5891-890F-7C5CD162D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4984C816-1DE8-60E9-CBDC-062972A54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8085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D5AB-7EB3-1224-1606-8DA9B025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01D2FE8B-2A69-6098-24E7-4DA8E740F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8AB164B1-6B32-118E-3F8F-7AFAB6B7C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13F9B0E6-4A07-D296-7C6B-338375199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6597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ED9C1-4264-04FF-F734-E64C0A30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810FBDAD-A6A9-8429-383E-75B01E9A6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A49A2AB3-24AA-D028-7E89-280654B35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07275C1F-9FCD-A41C-D384-57FFF017B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3740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4D80A-1F6D-ADD4-E7FB-F96F30EA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D3996992-0F0E-670C-E0F2-B03138F47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4B954EF1-0F7C-56F0-D3EA-62A7AF5BA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3E32F54-21CB-1660-F3A8-821AF79E4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64713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7710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1903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22D2F8-28A7-48E8-ADD3-E9583D47D83D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7307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a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rtlCol="0" anchor="b"/>
          <a:lstStyle>
            <a:lvl1pPr>
              <a:defRPr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podtytuł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 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a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w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26" name="Tekst — symbol zastępczy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0" name="Obraz — symbol zastępczy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 rtlCol="0"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 dirty="0"/>
              <a:t>Kliknij, aby dodać zdjęcie</a:t>
            </a:r>
          </a:p>
        </p:txBody>
      </p:sp>
      <p:sp>
        <p:nvSpPr>
          <p:cNvPr id="20" name="Stopka — symbol zastępczy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1" name="Numer slajdu — symbol zastępczy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2" name="Data — symbol zastępczy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a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18" name="Tekst — symbol zastępczy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16" name="Tekst — symbol zastępczy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0" name="Tekst — symbol zastępczy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9" name="Tekst — symbol zastępczy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1" name="Stopka — symbol zastępczy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42" name="Numer slajdu — symbol zastępczy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43" name="Data — symbol zastępczy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związ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a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ytuł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 rtlCol="0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27" name="Tekst — symbol zastępczy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2" name="Tekst — symbol zastępczy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28" name="Tekst — symbol zastępczy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29" name="Tekst — symbol zastępczy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tekst</a:t>
            </a:r>
          </a:p>
        </p:txBody>
      </p:sp>
      <p:sp>
        <p:nvSpPr>
          <p:cNvPr id="34" name="Tekst — symbol zastępczy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30" name="Tekst — symbol zastępczy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0" name="Stopka — symbol zastępczy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1" name="Numer slajdu — symbol zastępczy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2" name="Data — symbol zastępczy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  <p:sp>
        <p:nvSpPr>
          <p:cNvPr id="14" name="Obraz — symbol zastępczy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6" name="Obraz — symbol zastępczy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7" name="Obraz — symbol zastępczy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8" name="Obraz — symbol zastępczy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je ogólne o produ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a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 rtlCol="0"/>
          <a:lstStyle>
            <a:lvl1pPr algn="l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33" name="Tekst — symbol zastępczy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32" name="Tekst — symbol zastępczy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tekst</a:t>
            </a:r>
          </a:p>
        </p:txBody>
      </p:sp>
      <p:sp>
        <p:nvSpPr>
          <p:cNvPr id="58" name="Tekst — symbol zastępczy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57" name="Tekst — symbol zastępczy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64" name="Tekst — symbol zastępczy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63" name="Tekst — symbol zastępczy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67" name="Tekst — symbol zastępczy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66" name="Tekst — symbol zastępczy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2" name="Stopka — symbol zastępczy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3" name="Numer slajdu — symbol zastępczy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4" name="Data — symbol zastępczy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  <p:sp>
        <p:nvSpPr>
          <p:cNvPr id="5" name="Obraz — symbol zastępczy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1" name="Obraz — symbol zastępczy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5" name="Obraz — symbol zastępczy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6" name="Obraz — symbol zastępczy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rzyści z produk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a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27" name="Tekst — symbol zastępczy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tytuł</a:t>
            </a:r>
          </a:p>
        </p:txBody>
      </p:sp>
      <p:sp>
        <p:nvSpPr>
          <p:cNvPr id="18" name="Stopka — symbol zastępczy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9" name="Numer slajdu — symbol zastępczy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0" name="Data — symbol zastępczy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podział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a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 rtlCol="0"/>
          <a:lstStyle>
            <a:lvl1pPr algn="ctr">
              <a:defRPr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 biznes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ytuł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0" name="Tekst — symbol zastępczy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11" name="Tekst — symbol zastępczy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13" name="Tekst — symbol zastępczy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4" name="Tekst — symbol zastępczy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0" name="Stopka — symbol zastępczy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1" name="Numer slajdu — symbol zastępczy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2" name="Data — symbol zastępczy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mówienie możliwości rynkow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a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 rtlCol="0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tytuł</a:t>
            </a:r>
          </a:p>
        </p:txBody>
      </p:sp>
      <p:sp>
        <p:nvSpPr>
          <p:cNvPr id="13" name="Tekst — symbol zastępczy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Tutaj dodaj tekst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tytuł</a:t>
            </a:r>
          </a:p>
        </p:txBody>
      </p:sp>
      <p:sp>
        <p:nvSpPr>
          <p:cNvPr id="33" name="Tekst — symbol zastępczy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Tutaj dodaj tekst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tytuł</a:t>
            </a:r>
          </a:p>
        </p:txBody>
      </p:sp>
      <p:sp>
        <p:nvSpPr>
          <p:cNvPr id="36" name="Tekst — symbol zastępczy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Tutaj dodaj tekst</a:t>
            </a:r>
          </a:p>
        </p:txBody>
      </p:sp>
      <p:sp>
        <p:nvSpPr>
          <p:cNvPr id="20" name="Stopka — symbol zastępczy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1" name="Numer slajdu — symbol zastępczy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2" name="Data — symbol zastępczy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możliwości rynkowy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fika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 rtlCol="0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tekst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27" name="Tekst — symbol zastępczy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tekst</a:t>
            </a:r>
          </a:p>
        </p:txBody>
      </p:sp>
      <p:sp>
        <p:nvSpPr>
          <p:cNvPr id="29" name="Tekst — symbol zastępczy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30" name="Tekst — symbol zastępczy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tekst</a:t>
            </a:r>
          </a:p>
        </p:txBody>
      </p:sp>
      <p:sp>
        <p:nvSpPr>
          <p:cNvPr id="32" name="Tekst — symbol zastępczy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33" name="Tekst — symbol zastępczy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21" name="Stopka — symbol zastępczy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2" name="Numer slajdu — symbol zastępczy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3" name="Data — symbol zastępczy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za konkurenc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a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 rtlCol="0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24" name="Tekst — symbol zastępczy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podtytuł</a:t>
            </a:r>
          </a:p>
        </p:txBody>
      </p:sp>
      <p:sp>
        <p:nvSpPr>
          <p:cNvPr id="25" name="Tekst — symbol zastępczy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Tutaj dodaj tekst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podtytuł</a:t>
            </a:r>
          </a:p>
        </p:txBody>
      </p:sp>
      <p:sp>
        <p:nvSpPr>
          <p:cNvPr id="27" name="Tekst — symbol zastępczy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Tutaj dodaj tekst</a:t>
            </a:r>
          </a:p>
        </p:txBody>
      </p:sp>
      <p:sp>
        <p:nvSpPr>
          <p:cNvPr id="21" name="Stopka — symbol zastępczy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2" name="Numer slajdu — symbol zastępczy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3" name="Data — symbol zastępczy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za konkurencja, wersj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32" name="Tekst — symbol zastępczy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40" name="Tekst — symbol zastępczy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800" b="1" cap="all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54" name="Tekst — symbol zastępczy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49" name="Tekst — symbol zastępczy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38" name="Tekst — symbol zastępczy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44" name="Tekst — symbol zastępczy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800" b="1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42" name="Tekst — symbol zastępczy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800" b="1" cap="all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46" name="Tekst — symbol zastępczy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800" b="1" cap="all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34" name="Tekst — symbol zastępczy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48" name="Tekst — symbol zastępczy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800" b="1" cap="all" spc="200" baseline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Łącznik prosty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topka — symbol zastępczy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22" name="Numer slajdu — symbol zastępczy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23" name="Data — symbol zastępczy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a rozwoj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a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ytuł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rtlCol="0" anchor="b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8" name="Tekst — symbol zastępczy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10" name="Tekst — symbol zastępczy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19" name="Tekst — symbol zastępczy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nazwę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Tekst — symbol zastępczy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Stopka — symbol zastępczy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3" name="Numer slajdu — symbol zastępczy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4" name="Data — symbol zastępczy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ynamika rozwoj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a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rtlCol="0" anchor="b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0" name="Tekst — symbol zastępczy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podtytuł</a:t>
            </a:r>
          </a:p>
        </p:txBody>
      </p:sp>
      <p:sp>
        <p:nvSpPr>
          <p:cNvPr id="39" name="Tekst — symbol zastępczy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0" name="Tekst — symbol zastępczy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12" name="Stopka — symbol zastępczy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3" name="Numer slajdu — symbol zastępczy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4" name="Data — symbol zastępczy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  <p:sp>
        <p:nvSpPr>
          <p:cNvPr id="34" name="Zawartość — symbol zastępczy 3">
            <a:extLst>
              <a:ext uri="{FF2B5EF4-FFF2-40B4-BE49-F238E27FC236}">
                <a16:creationId xmlns:a16="http://schemas.microsoft.com/office/drawing/2014/main" id="{C1979EE6-6944-48F0-87CE-65E90A3ACC7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433647" y="3333750"/>
            <a:ext cx="4352925" cy="2636837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ziałań na dwa l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fika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upa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Łącznik prosty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Łącznik prosty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Łącznik prosty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Łącznik prosty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Łącznik prosty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Łącznik prosty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Łącznik prosty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Łącznik prosty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Łącznik prosty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Łącznik prosty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Łącznik prosty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21" name="Tekst — symbol zastępczy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2" name="Tekst — symbol zastępczy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3" name="Tekst — symbol zastępczy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13" name="Tekst — symbol zastępczy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rok</a:t>
            </a:r>
          </a:p>
        </p:txBody>
      </p:sp>
      <p:sp>
        <p:nvSpPr>
          <p:cNvPr id="42" name="Tekst — symbol zastępczy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3" name="Tekst — symbol zastępczy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4" name="Tekst — symbol zastępczy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5" name="Tekst — symbol zastępczy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6" name="Tekst — symbol zastępczy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7" name="Tekst — symbol zastępczy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8" name="Tekst — symbol zastępczy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9" name="Tekst — symbol zastępczy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50" name="Tekst — symbol zastępczy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51" name="Tekst — symbol zastępczy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52" name="Tekst — symbol zastępczy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53" name="Tekst — symbol zastępczy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4" name="Tekst — symbol zastępczy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5" name="Tekst — symbol zastępczy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tekst</a:t>
            </a:r>
          </a:p>
        </p:txBody>
      </p:sp>
      <p:sp>
        <p:nvSpPr>
          <p:cNvPr id="126" name="Tekst — symbol zastępczy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14" name="Tekst — symbol zastępczy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rok</a:t>
            </a:r>
          </a:p>
        </p:txBody>
      </p:sp>
      <p:sp>
        <p:nvSpPr>
          <p:cNvPr id="66" name="Tekst — symbol zastępczy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67" name="Tekst — symbol zastępczy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68" name="Tekst — symbol zastępczy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69" name="Tekst — symbol zastępczy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0" name="Tekst — symbol zastępczy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1" name="Tekst — symbol zastępczy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2" name="Tekst — symbol zastępczy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3" name="Tekst — symbol zastępczy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4" name="Tekst — symbol zastępczy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5" name="Tekst — symbol zastępczy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6" name="Tekst — symbol zastępczy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77" name="Tekst — symbol zastępczy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grpSp>
        <p:nvGrpSpPr>
          <p:cNvPr id="101" name="Grupa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Łącznik prosty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Łącznik prosty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Łącznik prosty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Łącznik prosty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Łącznik prosty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Łącznik prosty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Łącznik prosty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Łącznik prosty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Łącznik prosty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Łącznik prosty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Łącznik prosty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Stopka — symbol zastępczy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3" name="Numer slajdu — symbol zastępczy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4" name="Data — symbol zastępczy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a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pl-PL" noProof="0" dirty="0"/>
              <a:t>Kliknij, aby edytować style wzorców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12" name="Stopka — symbol zastępczy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3" name="Numer slajdu — symbol zastępczy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4" name="Data — symbol zastępczy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znaj zespół składający się z 4 osó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433312"/>
            <a:ext cx="1939480" cy="2115505"/>
          </a:xfrm>
          <a:prstGeom prst="rect">
            <a:avLst/>
          </a:prstGeom>
        </p:spPr>
        <p:txBody>
          <a:bodyPr rtlCol="0" anchor="ctr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4" name="Obraz — symbol zastępczy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 dirty="0"/>
              <a:t>Kliknij, aby dodać zdjęcie</a:t>
            </a:r>
          </a:p>
        </p:txBody>
      </p:sp>
      <p:sp>
        <p:nvSpPr>
          <p:cNvPr id="10" name="Obraz — symbol zastępczy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17" name="Obraz — symbol zastępczy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16" name="Obraz — symbol zastępczy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18" name="Ow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22" name="Ow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24" name="Ow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25" name="Tekst — symbol zastępczy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27" name="Tekst — symbol zastępczy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28" name="Tekst — symbol zastępczy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30" name="Tekst — symbol zastępczy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31" name="Tekst — symbol zastępczy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32" name="Tekst — symbol zastępczy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33" name="Tekst — symbol zastępczy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39" name="Stopka — symbol zastępczy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40" name="Numer slajdu — symbol zastępczy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41" name="Data — symbol zastępczy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znaj zespół składający się z 8 osó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218499"/>
          </a:xfrm>
          <a:prstGeom prst="rect">
            <a:avLst/>
          </a:prstGeom>
        </p:spPr>
        <p:txBody>
          <a:bodyPr rtlCol="0"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34" name="Obraz — symbol zastępczy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81" name="Obraz — symbol zastępczy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 dirty="0"/>
              <a:t>Kliknij, aby dodać zdjęcie</a:t>
            </a:r>
          </a:p>
        </p:txBody>
      </p:sp>
      <p:sp>
        <p:nvSpPr>
          <p:cNvPr id="85" name="Obraz — symbol zastępczy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87" name="Obraz — symbol zastępczy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37" name="Ow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41" name="Tekst — symbol zastępczy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42" name="Tekst — symbol zastępczy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43" name="Tekst — symbol zastępczy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44" name="Tekst — symbol zastępczy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45" name="Tekst — symbol zastępczy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46" name="Tekst — symbol zastępczy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47" name="Tekst — symbol zastępczy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48" name="Tekst — symbol zastępczy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97" name="Obraz — symbol zastępczy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99" name="Obraz — symbol zastępczy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101" name="Obraz — symbol zastępczy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103" name="Obraz — symbol zastępczy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73" name="Tekst — symbol zastępczy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74" name="Tekst — symbol zastępczy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75" name="Tekst — symbol zastępczy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76" name="Tekst — symbol zastępczy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77" name="Tekst — symbol zastępczy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78" name="Tekst — symbol zastępczy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79" name="Tekst — symbol zastępczy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nazwę</a:t>
            </a:r>
          </a:p>
        </p:txBody>
      </p:sp>
      <p:sp>
        <p:nvSpPr>
          <p:cNvPr id="80" name="Tekst — symbol zastępczy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Dodaj tytuł</a:t>
            </a:r>
          </a:p>
        </p:txBody>
      </p:sp>
      <p:sp>
        <p:nvSpPr>
          <p:cNvPr id="82" name="Ow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86" name="Ow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88" name="Ow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98" name="Ow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100" name="Ow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102" name="Ow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104" name="Ow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 Light" panose="020F0302020204030204" pitchFamily="34" charset="0"/>
            </a:endParaRPr>
          </a:p>
        </p:txBody>
      </p:sp>
      <p:sp>
        <p:nvSpPr>
          <p:cNvPr id="105" name="Stopka — symbol zastępczy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06" name="Numer slajdu — symbol zastępczy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07" name="Data — symbol zastępczy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s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a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 rtlCol="0"/>
          <a:lstStyle>
            <a:lvl1pPr algn="ctr">
              <a:defRPr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45" name="Tekst — symbol zastępczy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cap="all" spc="4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tytuł</a:t>
            </a:r>
          </a:p>
        </p:txBody>
      </p:sp>
      <p:sp>
        <p:nvSpPr>
          <p:cNvPr id="49" name="Tekst — symbol zastępczy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 cap="all" spc="4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tytuł</a:t>
            </a:r>
          </a:p>
        </p:txBody>
      </p:sp>
      <p:sp>
        <p:nvSpPr>
          <p:cNvPr id="47" name="Tekst — symbol zastępczy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tytuł</a:t>
            </a:r>
          </a:p>
        </p:txBody>
      </p:sp>
      <p:sp>
        <p:nvSpPr>
          <p:cNvPr id="48" name="Tekst — symbol zastępczy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b="1" cap="all" spc="4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Dodaj tytuł</a:t>
            </a:r>
          </a:p>
        </p:txBody>
      </p:sp>
      <p:sp>
        <p:nvSpPr>
          <p:cNvPr id="37" name="Tekst — symbol zastępczy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none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38" name="Tekst — symbol zastępczy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9" name="Tekst — symbol zastępczy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none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40" name="Tekst — symbol zastępczy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1" name="Tekst — symbol zastępczy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42" name="Tekst — symbol zastępczy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3" name="Tekst — symbol zastępczy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cap="none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pl-PL" noProof="0" dirty="0"/>
              <a:t>Kliknij, aby dodać tytuł</a:t>
            </a:r>
          </a:p>
        </p:txBody>
      </p:sp>
      <p:sp>
        <p:nvSpPr>
          <p:cNvPr id="44" name="Tekst — symbol zastępczy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Stopka — symbol zastępczy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3" name="Numer slajdu — symbol zastępczy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4" name="Data — symbol zastępczy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a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 rtlCol="0"/>
          <a:lstStyle>
            <a:lvl1pPr>
              <a:defRPr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Stopka — symbol zastępczy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4" name="Numer slajdu — symbol zastępczy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5" name="Data — symbol zastępczy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ziękujem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rtlCol="0" anchor="b"/>
          <a:lstStyle>
            <a:lvl1pPr algn="ctr">
              <a:defRPr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pl-PL" noProof="0" dirty="0"/>
              <a:t>Kliknij, aby dodać tytuł</a:t>
            </a:r>
          </a:p>
        </p:txBody>
      </p:sp>
      <p:sp>
        <p:nvSpPr>
          <p:cNvPr id="10" name="Tekst — symbol zastępczy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Stopka — symbol zastępczy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dirty="0"/>
          </a:p>
        </p:txBody>
      </p:sp>
      <p:sp>
        <p:nvSpPr>
          <p:cNvPr id="13" name="Numer slajdu — symbol zastępczy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/>
          </a:p>
        </p:txBody>
      </p:sp>
      <p:sp>
        <p:nvSpPr>
          <p:cNvPr id="14" name="Data — symbol zastępczy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cap="all" dirty="0"/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opka — symbol zastępczy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pl-PL"/>
              <a:t>TYTUŁ PREZENTACJI</a:t>
            </a:r>
            <a:endParaRPr lang="pl-PL" b="1" dirty="0"/>
          </a:p>
        </p:txBody>
      </p:sp>
      <p:sp>
        <p:nvSpPr>
          <p:cNvPr id="14" name="Numer slajdu — symbol zastępczy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8D1FC6F8-0BCD-47E9-9C64-690771D9C143}" type="slidenum">
              <a:rPr lang="pl-PL" noProof="0" smtClean="0"/>
              <a:pPr>
                <a:defRPr/>
              </a:pPr>
              <a:t>‹#›</a:t>
            </a:fld>
            <a:endParaRPr lang="pl-PL" noProof="0" dirty="0"/>
          </a:p>
        </p:txBody>
      </p:sp>
      <p:sp>
        <p:nvSpPr>
          <p:cNvPr id="15" name="Data — symbol zastępczy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pl-PL" cap="all"/>
              <a:t>21 maja 20XX</a:t>
            </a:r>
            <a:endParaRPr lang="pl-PL" b="1" cap="all" dirty="0"/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tuł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576" y="67572"/>
            <a:ext cx="8063018" cy="816022"/>
          </a:xfrm>
        </p:spPr>
        <p:txBody>
          <a:bodyPr rtlCol="0"/>
          <a:lstStyle/>
          <a:p>
            <a:pPr algn="ctr"/>
            <a:r>
              <a:rPr lang="pl" sz="4000" dirty="0"/>
              <a:t>ANALIZa zbioru danych</a:t>
            </a:r>
          </a:p>
        </p:txBody>
      </p:sp>
      <p:sp>
        <p:nvSpPr>
          <p:cNvPr id="13" name="Tekst — symbol zastępczy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6229" y="5892888"/>
            <a:ext cx="4989628" cy="816022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pl" dirty="0"/>
              <a:t>Adam Kondratiuk</a:t>
            </a:r>
          </a:p>
          <a:p>
            <a:pPr rtl="0"/>
            <a:r>
              <a:rPr lang="pl" dirty="0"/>
              <a:t>Kacper Kowalczyk</a:t>
            </a:r>
          </a:p>
          <a:p>
            <a:pPr rtl="0"/>
            <a:r>
              <a:rPr lang="pl" dirty="0"/>
              <a:t>Mateusz Włodkowski</a:t>
            </a:r>
          </a:p>
        </p:txBody>
      </p:sp>
      <p:sp>
        <p:nvSpPr>
          <p:cNvPr id="3" name="Tytuł 9">
            <a:extLst>
              <a:ext uri="{FF2B5EF4-FFF2-40B4-BE49-F238E27FC236}">
                <a16:creationId xmlns:a16="http://schemas.microsoft.com/office/drawing/2014/main" id="{7528F4A9-4C6A-98EA-07A4-43DAC835B6DF}"/>
              </a:ext>
            </a:extLst>
          </p:cNvPr>
          <p:cNvSpPr txBox="1">
            <a:spLocks/>
          </p:cNvSpPr>
          <p:nvPr/>
        </p:nvSpPr>
        <p:spPr>
          <a:xfrm>
            <a:off x="-39576" y="883594"/>
            <a:ext cx="7806789" cy="959225"/>
          </a:xfrm>
          <a:prstGeom prst="rect">
            <a:avLst/>
          </a:prstGeom>
        </p:spPr>
        <p:txBody>
          <a:bodyPr rtlCol="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400" baseline="0">
                <a:solidFill>
                  <a:schemeClr val="accent6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pl-PL" sz="3200" dirty="0" err="1">
                <a:solidFill>
                  <a:schemeClr val="bg1">
                    <a:lumMod val="95000"/>
                  </a:schemeClr>
                </a:solidFill>
              </a:rPr>
              <a:t>Predict</a:t>
            </a:r>
            <a:r>
              <a:rPr lang="pl-PL" sz="3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pl-PL" sz="3200" dirty="0" err="1">
                <a:solidFill>
                  <a:schemeClr val="bg1">
                    <a:lumMod val="95000"/>
                  </a:schemeClr>
                </a:solidFill>
              </a:rPr>
              <a:t>students</a:t>
            </a:r>
            <a:r>
              <a:rPr lang="pl-PL" sz="3200" dirty="0">
                <a:solidFill>
                  <a:schemeClr val="bg1">
                    <a:lumMod val="95000"/>
                  </a:schemeClr>
                </a:solidFill>
              </a:rPr>
              <a:t>’ </a:t>
            </a:r>
            <a:r>
              <a:rPr lang="pl-PL" sz="3200" dirty="0" err="1">
                <a:solidFill>
                  <a:schemeClr val="bg1">
                    <a:lumMod val="95000"/>
                  </a:schemeClr>
                </a:solidFill>
              </a:rPr>
              <a:t>dropout</a:t>
            </a:r>
            <a:endParaRPr lang="pl-PL" sz="32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pl-PL" sz="3200" dirty="0">
                <a:solidFill>
                  <a:schemeClr val="bg1">
                    <a:lumMod val="95000"/>
                  </a:schemeClr>
                </a:solidFill>
              </a:rPr>
              <a:t>And </a:t>
            </a:r>
            <a:r>
              <a:rPr lang="pl-PL" sz="3200" dirty="0" err="1">
                <a:solidFill>
                  <a:schemeClr val="bg1">
                    <a:lumMod val="95000"/>
                  </a:schemeClr>
                </a:solidFill>
              </a:rPr>
              <a:t>academic</a:t>
            </a:r>
            <a:r>
              <a:rPr lang="pl-PL" sz="3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pl-PL" sz="3200" dirty="0" err="1">
                <a:solidFill>
                  <a:schemeClr val="bg1">
                    <a:lumMod val="95000"/>
                  </a:schemeClr>
                </a:solidFill>
              </a:rPr>
              <a:t>success</a:t>
            </a:r>
            <a:endParaRPr lang="pl" sz="3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 rtlCol="0"/>
          <a:lstStyle/>
          <a:p>
            <a:pPr rtl="0"/>
            <a:r>
              <a:rPr lang="pl-PL" dirty="0"/>
              <a:t>Cel projektu:</a:t>
            </a:r>
          </a:p>
        </p:txBody>
      </p:sp>
      <p:sp>
        <p:nvSpPr>
          <p:cNvPr id="59" name="Tekst — symbol zastępczy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661" y="2747550"/>
            <a:ext cx="5309918" cy="2872039"/>
          </a:xfrm>
        </p:spPr>
        <p:txBody>
          <a:bodyPr rtlCol="0"/>
          <a:lstStyle/>
          <a:p>
            <a:pPr algn="just" rtl="0"/>
            <a:r>
              <a:rPr lang="pl-PL" dirty="0"/>
              <a:t>Głównym celem projektu jest dokonać kompleksowej analizy wskaźników porzucenia uczelni przez studentów oraz stworzyć model, który będzie w stanie z wysoką dokładnością określić czy student:</a:t>
            </a:r>
          </a:p>
          <a:p>
            <a:pPr marL="285750" indent="-285750" algn="just" rtl="0">
              <a:buFontTx/>
              <a:buChar char="-"/>
            </a:pPr>
            <a:r>
              <a:rPr lang="pl-PL" dirty="0"/>
              <a:t>Porzucił uczelnie (Target = 0 / </a:t>
            </a:r>
            <a:r>
              <a:rPr lang="pl-PL" dirty="0" err="1"/>
              <a:t>Dropped</a:t>
            </a:r>
            <a:r>
              <a:rPr lang="pl-PL" dirty="0"/>
              <a:t>),</a:t>
            </a:r>
          </a:p>
          <a:p>
            <a:pPr marL="285750" indent="-285750" algn="just" rtl="0">
              <a:buFontTx/>
              <a:buChar char="-"/>
            </a:pPr>
            <a:r>
              <a:rPr lang="pl-PL" dirty="0"/>
              <a:t>W trakcie nauki (Target = 1 / </a:t>
            </a:r>
            <a:r>
              <a:rPr lang="pl-PL" dirty="0" err="1"/>
              <a:t>Enrolled</a:t>
            </a:r>
            <a:r>
              <a:rPr lang="pl-PL" dirty="0"/>
              <a:t>),</a:t>
            </a:r>
          </a:p>
          <a:p>
            <a:pPr marL="285750" indent="-285750" algn="just" rtl="0">
              <a:buFontTx/>
              <a:buChar char="-"/>
            </a:pPr>
            <a:r>
              <a:rPr lang="pl-PL" dirty="0"/>
              <a:t>Absolwent (Target = 2 / </a:t>
            </a:r>
            <a:r>
              <a:rPr lang="pl-PL" dirty="0" err="1"/>
              <a:t>Graduate</a:t>
            </a:r>
            <a:r>
              <a:rPr lang="pl-PL" dirty="0"/>
              <a:t>)</a:t>
            </a:r>
          </a:p>
        </p:txBody>
      </p:sp>
      <p:sp>
        <p:nvSpPr>
          <p:cNvPr id="11" name="Numer slajdu — symbol zastępczy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/>
              <a:t>2</a:t>
            </a:fld>
            <a:endParaRPr lang="pl-PL"/>
          </a:p>
        </p:txBody>
      </p:sp>
      <p:pic>
        <p:nvPicPr>
          <p:cNvPr id="5" name="Symbol zastępczy obrazu 4" descr="Absolwenci podrzucający w górę birety">
            <a:extLst>
              <a:ext uri="{FF2B5EF4-FFF2-40B4-BE49-F238E27FC236}">
                <a16:creationId xmlns:a16="http://schemas.microsoft.com/office/drawing/2014/main" id="{A6B81A95-E428-4464-E0A4-A0C7A3ED05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048" r="160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ytuł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068" y="695093"/>
            <a:ext cx="5750751" cy="667498"/>
          </a:xfrm>
        </p:spPr>
        <p:txBody>
          <a:bodyPr rtlCol="0"/>
          <a:lstStyle/>
          <a:p>
            <a:pPr rtl="0"/>
            <a:r>
              <a:rPr lang="pl-PL" dirty="0"/>
              <a:t>Analiza zbioru danych</a:t>
            </a:r>
          </a:p>
        </p:txBody>
      </p:sp>
      <p:sp>
        <p:nvSpPr>
          <p:cNvPr id="41" name="Tekst — symbol zastępczy 40">
            <a:extLst>
              <a:ext uri="{FF2B5EF4-FFF2-40B4-BE49-F238E27FC236}">
                <a16:creationId xmlns:a16="http://schemas.microsoft.com/office/drawing/2014/main" id="{13DF91CF-444A-4959-91C5-62172E643B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99594" y="1873815"/>
            <a:ext cx="2556579" cy="365125"/>
          </a:xfrm>
        </p:spPr>
        <p:txBody>
          <a:bodyPr rtlCol="0"/>
          <a:lstStyle/>
          <a:p>
            <a:r>
              <a:rPr lang="pl-PL" dirty="0"/>
              <a:t>Rodzaje Target</a:t>
            </a:r>
          </a:p>
          <a:p>
            <a:pPr rtl="0"/>
            <a:endParaRPr lang="pl-PL" dirty="0"/>
          </a:p>
        </p:txBody>
      </p:sp>
      <p:sp>
        <p:nvSpPr>
          <p:cNvPr id="42" name="Tekst — symbol zastępczy 41">
            <a:extLst>
              <a:ext uri="{FF2B5EF4-FFF2-40B4-BE49-F238E27FC236}">
                <a16:creationId xmlns:a16="http://schemas.microsoft.com/office/drawing/2014/main" id="{933753EF-34D5-413D-B330-9D63C1E264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9595" y="2178444"/>
            <a:ext cx="2898345" cy="1328236"/>
          </a:xfrm>
        </p:spPr>
        <p:txBody>
          <a:bodyPr rtlCol="0"/>
          <a:lstStyle/>
          <a:p>
            <a:r>
              <a:rPr lang="pl-PL" dirty="0"/>
              <a:t>W porównaniu do standardowych wartości Target, ten zbiór danych zawiera podział na trzy zmienne wspomniane w poprzednim slajdzie.</a:t>
            </a:r>
          </a:p>
          <a:p>
            <a:pPr rtl="0"/>
            <a:endParaRPr lang="pl-PL" dirty="0"/>
          </a:p>
        </p:txBody>
      </p:sp>
      <p:sp>
        <p:nvSpPr>
          <p:cNvPr id="13" name="Tekst — symbol zastępczy 12">
            <a:extLst>
              <a:ext uri="{FF2B5EF4-FFF2-40B4-BE49-F238E27FC236}">
                <a16:creationId xmlns:a16="http://schemas.microsoft.com/office/drawing/2014/main" id="{DE843243-D5AF-4FB8-A0B6-47BAF2CEE0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38997" y="1873815"/>
            <a:ext cx="2556578" cy="365125"/>
          </a:xfrm>
        </p:spPr>
        <p:txBody>
          <a:bodyPr rtlCol="0"/>
          <a:lstStyle/>
          <a:p>
            <a:r>
              <a:rPr lang="pl-PL" dirty="0"/>
              <a:t>Pełny data set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D656B4F7-80AA-4955-8984-D9DA3B536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8996" y="2178444"/>
            <a:ext cx="2898345" cy="1291081"/>
          </a:xfrm>
        </p:spPr>
        <p:txBody>
          <a:bodyPr rtlCol="0"/>
          <a:lstStyle/>
          <a:p>
            <a:r>
              <a:rPr lang="pl-PL" dirty="0"/>
              <a:t>W zbiorze danych nie ma żadnego wiersza, który zawiera puste wartości.</a:t>
            </a:r>
          </a:p>
          <a:p>
            <a:pPr rtl="0"/>
            <a:endParaRPr lang="pl-PL" dirty="0"/>
          </a:p>
        </p:txBody>
      </p:sp>
      <p:sp>
        <p:nvSpPr>
          <p:cNvPr id="45" name="Tekst — symbol zastępczy 44">
            <a:extLst>
              <a:ext uri="{FF2B5EF4-FFF2-40B4-BE49-F238E27FC236}">
                <a16:creationId xmlns:a16="http://schemas.microsoft.com/office/drawing/2014/main" id="{23B5DB8F-544D-4B8A-98F5-10157CB578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9595" y="4071261"/>
            <a:ext cx="2673478" cy="365125"/>
          </a:xfrm>
        </p:spPr>
        <p:txBody>
          <a:bodyPr rtlCol="0"/>
          <a:lstStyle/>
          <a:p>
            <a:r>
              <a:rPr lang="pl-PL" dirty="0"/>
              <a:t>Wybrane algorytmy</a:t>
            </a:r>
          </a:p>
          <a:p>
            <a:pPr rtl="0"/>
            <a:endParaRPr lang="pl-PL" dirty="0"/>
          </a:p>
        </p:txBody>
      </p:sp>
      <p:sp>
        <p:nvSpPr>
          <p:cNvPr id="71" name="Tekst — symbol zastępczy 70">
            <a:extLst>
              <a:ext uri="{FF2B5EF4-FFF2-40B4-BE49-F238E27FC236}">
                <a16:creationId xmlns:a16="http://schemas.microsoft.com/office/drawing/2014/main" id="{6DC1492D-B4FC-4834-8463-9F39FDB781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9596" y="4383943"/>
            <a:ext cx="2556577" cy="1328236"/>
          </a:xfrm>
        </p:spPr>
        <p:txBody>
          <a:bodyPr rtlCol="0"/>
          <a:lstStyle/>
          <a:p>
            <a:r>
              <a:rPr lang="pl-PL" dirty="0"/>
              <a:t>Jako bazowe modele predykcyjne w niniejszym projekcie zastosowaliśmy algorytmy </a:t>
            </a:r>
            <a:r>
              <a:rPr lang="pl-PL" dirty="0" err="1"/>
              <a:t>XGBoost</a:t>
            </a:r>
            <a:r>
              <a:rPr lang="pl-PL" dirty="0"/>
              <a:t> i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.</a:t>
            </a:r>
          </a:p>
          <a:p>
            <a:pPr rtl="0"/>
            <a:endParaRPr lang="pl-PL" dirty="0"/>
          </a:p>
        </p:txBody>
      </p:sp>
      <p:sp>
        <p:nvSpPr>
          <p:cNvPr id="43" name="Tekst — symbol zastępczy 42">
            <a:extLst>
              <a:ext uri="{FF2B5EF4-FFF2-40B4-BE49-F238E27FC236}">
                <a16:creationId xmlns:a16="http://schemas.microsoft.com/office/drawing/2014/main" id="{F1C997B7-3BCB-422D-B850-6AD06C8FB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38997" y="4071261"/>
            <a:ext cx="2556577" cy="365125"/>
          </a:xfrm>
        </p:spPr>
        <p:txBody>
          <a:bodyPr rtlCol="0"/>
          <a:lstStyle/>
          <a:p>
            <a:r>
              <a:rPr lang="pl-PL" dirty="0"/>
              <a:t>Korelacja danych</a:t>
            </a:r>
          </a:p>
          <a:p>
            <a:pPr rtl="0"/>
            <a:endParaRPr lang="pl-PL" dirty="0"/>
          </a:p>
        </p:txBody>
      </p:sp>
      <p:sp>
        <p:nvSpPr>
          <p:cNvPr id="58" name="Tekst — symbol zastępczy 57">
            <a:extLst>
              <a:ext uri="{FF2B5EF4-FFF2-40B4-BE49-F238E27FC236}">
                <a16:creationId xmlns:a16="http://schemas.microsoft.com/office/drawing/2014/main" id="{82CC08AE-1854-427C-A409-844DADA8D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38997" y="4375890"/>
            <a:ext cx="2632418" cy="1291081"/>
          </a:xfrm>
        </p:spPr>
        <p:txBody>
          <a:bodyPr rtlCol="0"/>
          <a:lstStyle/>
          <a:p>
            <a:r>
              <a:rPr lang="pl-PL" dirty="0"/>
              <a:t>Zbiór zawiera 34 kolumny, z czego część odrzucimy dla poprawy optymalizacji. </a:t>
            </a:r>
          </a:p>
          <a:p>
            <a:pPr rtl="0"/>
            <a:endParaRPr lang="pl-PL" dirty="0"/>
          </a:p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6944EF00-08F5-4EC2-87BC-9CA90D82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ytuł 48">
            <a:extLst>
              <a:ext uri="{FF2B5EF4-FFF2-40B4-BE49-F238E27FC236}">
                <a16:creationId xmlns:a16="http://schemas.microsoft.com/office/drawing/2014/main" id="{7FE51E02-50EB-4E26-B5E1-1B76B0D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716" y="1823625"/>
            <a:ext cx="4719884" cy="580030"/>
          </a:xfrm>
        </p:spPr>
        <p:txBody>
          <a:bodyPr rtlCol="0"/>
          <a:lstStyle/>
          <a:p>
            <a:pPr rtl="0"/>
            <a:r>
              <a:rPr lang="pl-PL" dirty="0"/>
              <a:t>Wstępna obróbka danych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DA6FC127-313F-42F3-9800-F36B13BD0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2172245" y="3645383"/>
            <a:ext cx="76222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wal 16">
            <a:extLst>
              <a:ext uri="{FF2B5EF4-FFF2-40B4-BE49-F238E27FC236}">
                <a16:creationId xmlns:a16="http://schemas.microsoft.com/office/drawing/2014/main" id="{17BD30DD-1CDC-42FA-A173-F6CFB93D9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5064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>
              <a:latin typeface="Calibri Light" panose="020F0302020204030204" pitchFamily="34" charset="0"/>
            </a:endParaRPr>
          </a:p>
        </p:txBody>
      </p:sp>
      <p:sp>
        <p:nvSpPr>
          <p:cNvPr id="19" name="Owal 18">
            <a:extLst>
              <a:ext uri="{FF2B5EF4-FFF2-40B4-BE49-F238E27FC236}">
                <a16:creationId xmlns:a16="http://schemas.microsoft.com/office/drawing/2014/main" id="{6FF16285-BEA6-47E3-8ECE-E17D4D084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562" y="3174633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>
              <a:latin typeface="Calibri Light" panose="020F0302020204030204" pitchFamily="34" charset="0"/>
            </a:endParaRPr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3FF59E2B-8CF4-4F96-9F85-850F62E87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94529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>
              <a:latin typeface="Calibri Light" panose="020F0302020204030204" pitchFamily="34" charset="0"/>
            </a:endParaRPr>
          </a:p>
        </p:txBody>
      </p:sp>
      <p:sp>
        <p:nvSpPr>
          <p:cNvPr id="15" name="Owal 14">
            <a:extLst>
              <a:ext uri="{FF2B5EF4-FFF2-40B4-BE49-F238E27FC236}">
                <a16:creationId xmlns:a16="http://schemas.microsoft.com/office/drawing/2014/main" id="{D56AB62C-FF38-4153-B496-F42C8DB0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567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>
              <a:latin typeface="Calibri Light" panose="020F0302020204030204" pitchFamily="34" charset="0"/>
            </a:endParaRPr>
          </a:p>
        </p:txBody>
      </p:sp>
      <p:pic>
        <p:nvPicPr>
          <p:cNvPr id="91" name="Obraz — symbol zastępczy 90" descr="ikona rynku">
            <a:extLst>
              <a:ext uri="{FF2B5EF4-FFF2-40B4-BE49-F238E27FC236}">
                <a16:creationId xmlns:a16="http://schemas.microsoft.com/office/drawing/2014/main" id="{C6A83A1A-E2DA-4D40-B2A8-6FAABB76B41B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/>
          <a:stretch>
            <a:fillRect/>
          </a:stretch>
        </p:blipFill>
        <p:spPr>
          <a:xfrm>
            <a:off x="1404658" y="3330145"/>
            <a:ext cx="603504" cy="603504"/>
          </a:xfrm>
          <a:prstGeom prst="rect">
            <a:avLst/>
          </a:prstGeom>
        </p:spPr>
      </p:pic>
      <p:sp>
        <p:nvSpPr>
          <p:cNvPr id="26" name="Tekst — symbol zastępczy 25">
            <a:extLst>
              <a:ext uri="{FF2B5EF4-FFF2-40B4-BE49-F238E27FC236}">
                <a16:creationId xmlns:a16="http://schemas.microsoft.com/office/drawing/2014/main" id="{2F0C189F-75BF-4FC8-A278-5EFC6B66F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9005" y="4230943"/>
            <a:ext cx="2640803" cy="521786"/>
          </a:xfrm>
        </p:spPr>
        <p:txBody>
          <a:bodyPr rtlCol="0"/>
          <a:lstStyle/>
          <a:p>
            <a:pPr rtl="0"/>
            <a:r>
              <a:rPr lang="pl-PL" dirty="0"/>
              <a:t>Mapowanie wartości target</a:t>
            </a:r>
          </a:p>
        </p:txBody>
      </p:sp>
      <p:sp>
        <p:nvSpPr>
          <p:cNvPr id="27" name="Tekst — symbol zastępczy 26">
            <a:extLst>
              <a:ext uri="{FF2B5EF4-FFF2-40B4-BE49-F238E27FC236}">
                <a16:creationId xmlns:a16="http://schemas.microsoft.com/office/drawing/2014/main" id="{56F30711-3932-4012-B6C1-3B270E129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9581" y="4744162"/>
            <a:ext cx="2995650" cy="1616414"/>
          </a:xfrm>
        </p:spPr>
        <p:txBody>
          <a:bodyPr rtlCol="0"/>
          <a:lstStyle/>
          <a:p>
            <a:pPr rtl="0"/>
            <a:r>
              <a:rPr lang="pl-PL" dirty="0"/>
              <a:t>Ponieważ kolumna „Target” przyjmuje wartości [</a:t>
            </a:r>
            <a:r>
              <a:rPr lang="pl-PL" dirty="0" err="1"/>
              <a:t>Dropout</a:t>
            </a:r>
            <a:r>
              <a:rPr lang="pl-PL" dirty="0"/>
              <a:t>, </a:t>
            </a:r>
            <a:r>
              <a:rPr lang="pl-PL" dirty="0" err="1"/>
              <a:t>Graduate</a:t>
            </a:r>
            <a:r>
              <a:rPr lang="pl-PL" dirty="0"/>
              <a:t>, </a:t>
            </a:r>
            <a:r>
              <a:rPr lang="pl-PL" dirty="0" err="1"/>
              <a:t>Enrolled</a:t>
            </a:r>
            <a:r>
              <a:rPr lang="pl-PL" dirty="0"/>
              <a:t>]</a:t>
            </a:r>
          </a:p>
          <a:p>
            <a:pPr rtl="0"/>
            <a:r>
              <a:rPr lang="pl-PL" dirty="0"/>
              <a:t>to dobrym pomysłem jest zamienić je na wartości [0, 1, 2].</a:t>
            </a:r>
          </a:p>
        </p:txBody>
      </p:sp>
      <p:sp>
        <p:nvSpPr>
          <p:cNvPr id="31" name="Tekst — symbol zastępczy 30">
            <a:extLst>
              <a:ext uri="{FF2B5EF4-FFF2-40B4-BE49-F238E27FC236}">
                <a16:creationId xmlns:a16="http://schemas.microsoft.com/office/drawing/2014/main" id="{850A4385-C5CF-4BEE-B287-D3AC3C9128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37502" y="4234631"/>
            <a:ext cx="2640803" cy="521786"/>
          </a:xfrm>
        </p:spPr>
        <p:txBody>
          <a:bodyPr rtlCol="0"/>
          <a:lstStyle/>
          <a:p>
            <a:pPr rtl="0"/>
            <a:r>
              <a:rPr lang="pl-PL" dirty="0"/>
              <a:t>Analiza korelacji za pomocą </a:t>
            </a:r>
            <a:r>
              <a:rPr lang="pl-PL" dirty="0" err="1"/>
              <a:t>heatmapy</a:t>
            </a:r>
            <a:r>
              <a:rPr lang="pl-PL" dirty="0"/>
              <a:t>.</a:t>
            </a:r>
          </a:p>
        </p:txBody>
      </p:sp>
      <p:sp>
        <p:nvSpPr>
          <p:cNvPr id="28" name="Tekst — symbol zastępczy 27">
            <a:extLst>
              <a:ext uri="{FF2B5EF4-FFF2-40B4-BE49-F238E27FC236}">
                <a16:creationId xmlns:a16="http://schemas.microsoft.com/office/drawing/2014/main" id="{CC9C5A8F-500B-4089-A210-65BE40581F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7503" y="4747850"/>
            <a:ext cx="2640803" cy="1616414"/>
          </a:xfrm>
        </p:spPr>
        <p:txBody>
          <a:bodyPr rtlCol="0"/>
          <a:lstStyle/>
          <a:p>
            <a:pPr rtl="0"/>
            <a:r>
              <a:rPr lang="pl-PL" dirty="0"/>
              <a:t>Zbiór zawiera 34 kolumny, więc warto jest rozważyć pozbycie się tych nisko skorelowanych. Użyjemy do tego m.in. narzędzia wykresu korelacji </a:t>
            </a:r>
            <a:r>
              <a:rPr lang="pl-PL" dirty="0" err="1"/>
              <a:t>heatmapy</a:t>
            </a:r>
            <a:r>
              <a:rPr lang="pl-PL" dirty="0"/>
              <a:t>.</a:t>
            </a:r>
          </a:p>
        </p:txBody>
      </p:sp>
      <p:sp>
        <p:nvSpPr>
          <p:cNvPr id="32" name="Tekst — symbol zastępczy 31">
            <a:extLst>
              <a:ext uri="{FF2B5EF4-FFF2-40B4-BE49-F238E27FC236}">
                <a16:creationId xmlns:a16="http://schemas.microsoft.com/office/drawing/2014/main" id="{561059DA-EA8B-4860-B58D-BBFD6C2CFC5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0" y="4218499"/>
            <a:ext cx="2640803" cy="521786"/>
          </a:xfrm>
        </p:spPr>
        <p:txBody>
          <a:bodyPr rtlCol="0"/>
          <a:lstStyle/>
          <a:p>
            <a:pPr rtl="0"/>
            <a:r>
              <a:rPr lang="pl-PL" dirty="0"/>
              <a:t>Usunięcie zbędnych kolumn</a:t>
            </a:r>
          </a:p>
        </p:txBody>
      </p:sp>
      <p:sp>
        <p:nvSpPr>
          <p:cNvPr id="29" name="Tekst — symbol zastępczy 28">
            <a:extLst>
              <a:ext uri="{FF2B5EF4-FFF2-40B4-BE49-F238E27FC236}">
                <a16:creationId xmlns:a16="http://schemas.microsoft.com/office/drawing/2014/main" id="{491AC0FF-532B-4B36-BE1C-83B71D783B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731718"/>
            <a:ext cx="2640803" cy="1616414"/>
          </a:xfrm>
        </p:spPr>
        <p:txBody>
          <a:bodyPr rtlCol="0"/>
          <a:lstStyle/>
          <a:p>
            <a:pPr rtl="0"/>
            <a:r>
              <a:rPr lang="pl-PL" dirty="0"/>
              <a:t>Aby uzyskać lepsze wyniki nasz model będzie bazował na bardziej ograniczonym zbiorze danych, niż oryginalny. </a:t>
            </a:r>
          </a:p>
        </p:txBody>
      </p:sp>
      <p:pic>
        <p:nvPicPr>
          <p:cNvPr id="94" name="Obraz — symbol zastępczy 93" descr="ikona stosu dokumentów">
            <a:extLst>
              <a:ext uri="{FF2B5EF4-FFF2-40B4-BE49-F238E27FC236}">
                <a16:creationId xmlns:a16="http://schemas.microsoft.com/office/drawing/2014/main" id="{8C7C9F51-16A3-43F8-8724-9F145C4AD51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3" name="Tekst — symbol zastępczy 32">
            <a:extLst>
              <a:ext uri="{FF2B5EF4-FFF2-40B4-BE49-F238E27FC236}">
                <a16:creationId xmlns:a16="http://schemas.microsoft.com/office/drawing/2014/main" id="{921263C4-F13B-47F6-A4A0-816A8D261C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6967" y="4218499"/>
            <a:ext cx="2640803" cy="521786"/>
          </a:xfrm>
        </p:spPr>
        <p:txBody>
          <a:bodyPr rtlCol="0"/>
          <a:lstStyle/>
          <a:p>
            <a:pPr rtl="0"/>
            <a:r>
              <a:rPr lang="pl-PL" dirty="0"/>
              <a:t>Zbiór danych jest gotowy!</a:t>
            </a:r>
          </a:p>
        </p:txBody>
      </p:sp>
      <p:sp>
        <p:nvSpPr>
          <p:cNvPr id="30" name="Tekst — symbol zastępczy 29">
            <a:extLst>
              <a:ext uri="{FF2B5EF4-FFF2-40B4-BE49-F238E27FC236}">
                <a16:creationId xmlns:a16="http://schemas.microsoft.com/office/drawing/2014/main" id="{D16C7B99-9723-4022-8904-97B66907F1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46967" y="4731718"/>
            <a:ext cx="2640803" cy="1616414"/>
          </a:xfrm>
        </p:spPr>
        <p:txBody>
          <a:bodyPr rtlCol="0"/>
          <a:lstStyle/>
          <a:p>
            <a:pPr rtl="0"/>
            <a:r>
              <a:rPr lang="pl-PL" dirty="0"/>
              <a:t>Zbiór danych jest gotowy do dalszej części projektu i nie potrzebuje więcej zmian.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BDAFBEEF-2BDC-48F9-ACA2-5A9324E7B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/>
              <a:t>4</a:t>
            </a:fld>
            <a:endParaRPr lang="pl-PL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AA739F5D-B418-43C6-01AD-059227095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2095" y="3334501"/>
            <a:ext cx="599148" cy="599148"/>
          </a:xfrm>
          <a:prstGeom prst="rect">
            <a:avLst/>
          </a:prstGeom>
        </p:spPr>
      </p:pic>
      <p:pic>
        <p:nvPicPr>
          <p:cNvPr id="12" name="Grafika 11">
            <a:extLst>
              <a:ext uri="{FF2B5EF4-FFF2-40B4-BE49-F238E27FC236}">
                <a16:creationId xmlns:a16="http://schemas.microsoft.com/office/drawing/2014/main" id="{2D302BD7-954D-9B08-82C7-B7931B7C7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6827" y="3330145"/>
            <a:ext cx="599148" cy="59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0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CB26D-0480-AD00-53CF-104612B7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ytuł 34">
            <a:extLst>
              <a:ext uri="{FF2B5EF4-FFF2-40B4-BE49-F238E27FC236}">
                <a16:creationId xmlns:a16="http://schemas.microsoft.com/office/drawing/2014/main" id="{186027F7-89ED-E7C8-62AD-00418F95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238" y="2172658"/>
            <a:ext cx="7323836" cy="743753"/>
          </a:xfrm>
        </p:spPr>
        <p:txBody>
          <a:bodyPr rtlCol="0"/>
          <a:lstStyle/>
          <a:p>
            <a:pPr rtl="0"/>
            <a:r>
              <a:rPr lang="pl-PL" dirty="0"/>
              <a:t>Usunięte kolumny ze zbioru danych</a:t>
            </a:r>
          </a:p>
        </p:txBody>
      </p:sp>
      <p:sp>
        <p:nvSpPr>
          <p:cNvPr id="48" name="Tekst — symbol zastępczy 47">
            <a:extLst>
              <a:ext uri="{FF2B5EF4-FFF2-40B4-BE49-F238E27FC236}">
                <a16:creationId xmlns:a16="http://schemas.microsoft.com/office/drawing/2014/main" id="{B84AB656-294A-03EA-D553-3BEB60F3F6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47623" y="3317783"/>
            <a:ext cx="4172533" cy="274650"/>
          </a:xfrm>
        </p:spPr>
        <p:txBody>
          <a:bodyPr rtlCol="0"/>
          <a:lstStyle/>
          <a:p>
            <a:pPr rtl="0"/>
            <a:r>
              <a:rPr lang="pl-PL" dirty="0"/>
              <a:t>Następujące:</a:t>
            </a:r>
          </a:p>
        </p:txBody>
      </p:sp>
      <p:sp>
        <p:nvSpPr>
          <p:cNvPr id="39" name="Tekst — symbol zastępczy 38">
            <a:extLst>
              <a:ext uri="{FF2B5EF4-FFF2-40B4-BE49-F238E27FC236}">
                <a16:creationId xmlns:a16="http://schemas.microsoft.com/office/drawing/2014/main" id="{CEF0A1BB-4CB0-7ADB-4008-FACABB7267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47623" y="3651424"/>
            <a:ext cx="4172533" cy="2329657"/>
          </a:xfrm>
        </p:spPr>
        <p:txBody>
          <a:bodyPr rtlCol="0"/>
          <a:lstStyle/>
          <a:p>
            <a:pPr marL="285750" indent="-285750">
              <a:buFontTx/>
              <a:buChar char="-"/>
            </a:pPr>
            <a:r>
              <a:rPr lang="pl-PL" dirty="0"/>
              <a:t>1. </a:t>
            </a:r>
            <a:r>
              <a:rPr lang="pl-PL" dirty="0" err="1"/>
              <a:t>Father’s</a:t>
            </a:r>
            <a:r>
              <a:rPr lang="pl-PL" dirty="0"/>
              <a:t> </a:t>
            </a:r>
            <a:r>
              <a:rPr lang="pl-PL" dirty="0" err="1"/>
              <a:t>qualification</a:t>
            </a:r>
            <a:r>
              <a:rPr lang="pl-PL" dirty="0"/>
              <a:t>,</a:t>
            </a:r>
          </a:p>
          <a:p>
            <a:pPr marL="285750" indent="-285750">
              <a:buFontTx/>
              <a:buChar char="-"/>
            </a:pPr>
            <a:r>
              <a:rPr lang="pl-PL" dirty="0"/>
              <a:t>2. International,</a:t>
            </a:r>
          </a:p>
          <a:p>
            <a:pPr marL="285750" indent="-285750">
              <a:buFontTx/>
              <a:buChar char="-"/>
            </a:pPr>
            <a:r>
              <a:rPr lang="pl-PL" dirty="0"/>
              <a:t>3. </a:t>
            </a:r>
            <a:r>
              <a:rPr lang="pl-PL" dirty="0" err="1"/>
              <a:t>Nacionality</a:t>
            </a:r>
            <a:r>
              <a:rPr lang="pl-PL" dirty="0"/>
              <a:t>,</a:t>
            </a:r>
          </a:p>
          <a:p>
            <a:pPr marL="285750" indent="-285750">
              <a:buFontTx/>
              <a:buChar char="-"/>
            </a:pPr>
            <a:r>
              <a:rPr lang="pl-PL" dirty="0"/>
              <a:t>4. </a:t>
            </a:r>
            <a:r>
              <a:rPr lang="pl-PL" dirty="0" err="1"/>
              <a:t>Educational</a:t>
            </a:r>
            <a:r>
              <a:rPr lang="pl-PL" dirty="0"/>
              <a:t> </a:t>
            </a:r>
            <a:r>
              <a:rPr lang="pl-PL" dirty="0" err="1"/>
              <a:t>special</a:t>
            </a:r>
            <a:r>
              <a:rPr lang="pl-PL" dirty="0"/>
              <a:t> </a:t>
            </a:r>
            <a:r>
              <a:rPr lang="pl-PL" dirty="0" err="1"/>
              <a:t>needs</a:t>
            </a:r>
            <a:r>
              <a:rPr lang="pl-PL" dirty="0"/>
              <a:t>,</a:t>
            </a:r>
          </a:p>
          <a:p>
            <a:endParaRPr lang="pl-PL" dirty="0"/>
          </a:p>
        </p:txBody>
      </p:sp>
      <p:sp>
        <p:nvSpPr>
          <p:cNvPr id="59" name="Tekst — symbol zastępczy 58">
            <a:extLst>
              <a:ext uri="{FF2B5EF4-FFF2-40B4-BE49-F238E27FC236}">
                <a16:creationId xmlns:a16="http://schemas.microsoft.com/office/drawing/2014/main" id="{80B2D357-9923-B1E3-78D7-3814BEFAEC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55253" y="3317783"/>
            <a:ext cx="4172533" cy="274650"/>
          </a:xfrm>
        </p:spPr>
        <p:txBody>
          <a:bodyPr rtlCol="0"/>
          <a:lstStyle/>
          <a:p>
            <a:r>
              <a:rPr lang="pl-PL" dirty="0"/>
              <a:t>KOLUMNY:</a:t>
            </a:r>
          </a:p>
        </p:txBody>
      </p:sp>
      <p:sp>
        <p:nvSpPr>
          <p:cNvPr id="50" name="Tekst — symbol zastępczy 49">
            <a:extLst>
              <a:ext uri="{FF2B5EF4-FFF2-40B4-BE49-F238E27FC236}">
                <a16:creationId xmlns:a16="http://schemas.microsoft.com/office/drawing/2014/main" id="{9B8C6DB6-F7E0-AE78-F2AC-38645B9DABF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55252" y="3651424"/>
            <a:ext cx="4172533" cy="2329657"/>
          </a:xfrm>
        </p:spPr>
        <p:txBody>
          <a:bodyPr rtlCol="0"/>
          <a:lstStyle/>
          <a:p>
            <a:pPr marL="285750" indent="-285750" rtl="0">
              <a:buFontTx/>
              <a:buChar char="-"/>
            </a:pPr>
            <a:r>
              <a:rPr lang="pl-PL" dirty="0"/>
              <a:t>5. Course,</a:t>
            </a:r>
          </a:p>
          <a:p>
            <a:pPr marL="285750" indent="-285750" rtl="0">
              <a:buFontTx/>
              <a:buChar char="-"/>
            </a:pPr>
            <a:r>
              <a:rPr lang="pl-PL" dirty="0"/>
              <a:t>6. </a:t>
            </a:r>
            <a:r>
              <a:rPr lang="pl-PL" dirty="0" err="1"/>
              <a:t>Unemployment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,</a:t>
            </a:r>
          </a:p>
          <a:p>
            <a:pPr marL="285750" indent="-285750" rtl="0">
              <a:buFontTx/>
              <a:buChar char="-"/>
            </a:pPr>
            <a:r>
              <a:rPr lang="pl-PL" dirty="0"/>
              <a:t>7. </a:t>
            </a:r>
            <a:r>
              <a:rPr lang="pl-PL" dirty="0" err="1"/>
              <a:t>Inflation</a:t>
            </a:r>
            <a:r>
              <a:rPr lang="pl-PL" dirty="0"/>
              <a:t> </a:t>
            </a:r>
            <a:r>
              <a:rPr lang="pl-PL" dirty="0" err="1"/>
              <a:t>rate</a:t>
            </a:r>
            <a:r>
              <a:rPr lang="pl-PL" dirty="0"/>
              <a:t>,</a:t>
            </a:r>
          </a:p>
          <a:p>
            <a:pPr marL="285750" indent="-285750" rtl="0">
              <a:buFontTx/>
              <a:buChar char="-"/>
            </a:pPr>
            <a:r>
              <a:rPr lang="pl-PL" dirty="0"/>
              <a:t>8. </a:t>
            </a:r>
            <a:r>
              <a:rPr lang="pl-PL" dirty="0" err="1"/>
              <a:t>Mother’s</a:t>
            </a:r>
            <a:r>
              <a:rPr lang="pl-PL" dirty="0"/>
              <a:t> </a:t>
            </a:r>
            <a:r>
              <a:rPr lang="pl-PL" dirty="0" err="1"/>
              <a:t>qualification</a:t>
            </a:r>
            <a:endParaRPr lang="pl-PL" dirty="0"/>
          </a:p>
        </p:txBody>
      </p:sp>
      <p:sp>
        <p:nvSpPr>
          <p:cNvPr id="44" name="Numer slajdu — symbol zastępczy 43">
            <a:extLst>
              <a:ext uri="{FF2B5EF4-FFF2-40B4-BE49-F238E27FC236}">
                <a16:creationId xmlns:a16="http://schemas.microsoft.com/office/drawing/2014/main" id="{6FEB8697-25DC-C5A9-8A40-F1C08F011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 rtl="0"/>
              <a:t>5</a:t>
            </a:fld>
            <a:endParaRPr lang="pl-PL"/>
          </a:p>
        </p:txBody>
      </p:sp>
      <p:sp>
        <p:nvSpPr>
          <p:cNvPr id="2" name="Tytuł 34">
            <a:extLst>
              <a:ext uri="{FF2B5EF4-FFF2-40B4-BE49-F238E27FC236}">
                <a16:creationId xmlns:a16="http://schemas.microsoft.com/office/drawing/2014/main" id="{4F44F1BB-0B89-9B61-912F-F66F18538548}"/>
              </a:ext>
            </a:extLst>
          </p:cNvPr>
          <p:cNvSpPr txBox="1">
            <a:spLocks/>
          </p:cNvSpPr>
          <p:nvPr/>
        </p:nvSpPr>
        <p:spPr>
          <a:xfrm>
            <a:off x="2017682" y="6040072"/>
            <a:ext cx="7323836" cy="743753"/>
          </a:xfrm>
          <a:prstGeom prst="rect">
            <a:avLst/>
          </a:prstGeom>
        </p:spPr>
        <p:txBody>
          <a:bodyPr rtlCol="0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cap="all" spc="400" baseline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pl-PL" b="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Najpierw najmniej skorelowane</a:t>
            </a:r>
          </a:p>
        </p:txBody>
      </p:sp>
    </p:spTree>
    <p:extLst>
      <p:ext uri="{BB962C8B-B14F-4D97-AF65-F5344CB8AC3E}">
        <p14:creationId xmlns:p14="http://schemas.microsoft.com/office/powerpoint/2010/main" val="1192519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1E4FF-357A-0D80-C7FA-389ACDCB1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26">
            <a:extLst>
              <a:ext uri="{FF2B5EF4-FFF2-40B4-BE49-F238E27FC236}">
                <a16:creationId xmlns:a16="http://schemas.microsoft.com/office/drawing/2014/main" id="{7AA8039F-DBBC-4E7F-4472-55401BD65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61" y="79082"/>
            <a:ext cx="6922876" cy="687834"/>
          </a:xfrm>
        </p:spPr>
        <p:txBody>
          <a:bodyPr rtlCol="0" anchor="ctr">
            <a:normAutofit/>
          </a:bodyPr>
          <a:lstStyle/>
          <a:p>
            <a:pPr rtl="0"/>
            <a:r>
              <a:rPr lang="pl-PL" dirty="0" err="1">
                <a:solidFill>
                  <a:schemeClr val="accent6"/>
                </a:solidFill>
              </a:rPr>
              <a:t>Heatmapa</a:t>
            </a:r>
            <a:r>
              <a:rPr lang="pl-PL" dirty="0">
                <a:solidFill>
                  <a:schemeClr val="accent6"/>
                </a:solidFill>
              </a:rPr>
              <a:t> korelacji</a:t>
            </a:r>
          </a:p>
        </p:txBody>
      </p:sp>
      <p:sp>
        <p:nvSpPr>
          <p:cNvPr id="10" name="Tekst — symbol zastępczy 58">
            <a:extLst>
              <a:ext uri="{FF2B5EF4-FFF2-40B4-BE49-F238E27FC236}">
                <a16:creationId xmlns:a16="http://schemas.microsoft.com/office/drawing/2014/main" id="{4307A3B9-2FB8-898D-2E17-3865C24D0769}"/>
              </a:ext>
            </a:extLst>
          </p:cNvPr>
          <p:cNvSpPr txBox="1">
            <a:spLocks/>
          </p:cNvSpPr>
          <p:nvPr/>
        </p:nvSpPr>
        <p:spPr>
          <a:xfrm>
            <a:off x="127070" y="630360"/>
            <a:ext cx="5737352" cy="5068887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b="1" dirty="0">
                <a:solidFill>
                  <a:schemeClr val="bg1"/>
                </a:solidFill>
              </a:rPr>
              <a:t>Jak widać wykres jest ogromny.</a:t>
            </a:r>
          </a:p>
          <a:p>
            <a:pPr marL="0" indent="0">
              <a:buNone/>
            </a:pPr>
            <a:r>
              <a:rPr lang="pl-PL" sz="2400" dirty="0">
                <a:solidFill>
                  <a:schemeClr val="bg1"/>
                </a:solidFill>
              </a:rPr>
              <a:t>Wyciągnięte zostały następujące wnioski:</a:t>
            </a:r>
          </a:p>
          <a:p>
            <a:pPr>
              <a:buFontTx/>
              <a:buChar char="-"/>
            </a:pPr>
            <a:r>
              <a:rPr lang="pl-PL" sz="2000" dirty="0">
                <a:solidFill>
                  <a:schemeClr val="bg1"/>
                </a:solidFill>
              </a:rPr>
              <a:t>Najsilniejszy wpływ na ukończenie studiów ma zaliczenie przedmiotów w 1. i 2. semestrze (+0.62).</a:t>
            </a:r>
          </a:p>
          <a:p>
            <a:pPr>
              <a:buFontTx/>
              <a:buChar char="-"/>
            </a:pPr>
            <a:r>
              <a:rPr lang="pl-PL" sz="2000" dirty="0">
                <a:solidFill>
                  <a:schemeClr val="bg1"/>
                </a:solidFill>
              </a:rPr>
              <a:t>Regularnie opłacanie czesnego (+0.41) oraz stypendia chronią przed porzuceniem studiów. Natomiast zadłużenia (-0.24) drastycznie zwiększają ryzyko rezygnacji.</a:t>
            </a:r>
          </a:p>
          <a:p>
            <a:pPr>
              <a:buFontTx/>
              <a:buChar char="-"/>
            </a:pPr>
            <a:r>
              <a:rPr lang="pl-PL" sz="2000" dirty="0">
                <a:solidFill>
                  <a:schemeClr val="bg1"/>
                </a:solidFill>
              </a:rPr>
              <a:t>Starsze osoby (-0.24) oraz płeć męska (-0.22) korelują ujemnie z sukcesem akademickim.</a:t>
            </a:r>
          </a:p>
          <a:p>
            <a:pPr>
              <a:buFontTx/>
              <a:buChar char="-"/>
            </a:pPr>
            <a:endParaRPr lang="pl-PL" sz="2000" dirty="0">
              <a:solidFill>
                <a:schemeClr val="bg1"/>
              </a:solidFill>
            </a:endParaRPr>
          </a:p>
        </p:txBody>
      </p:sp>
      <p:sp>
        <p:nvSpPr>
          <p:cNvPr id="40" name="Footer Placeholder 3">
            <a:extLst>
              <a:ext uri="{FF2B5EF4-FFF2-40B4-BE49-F238E27FC236}">
                <a16:creationId xmlns:a16="http://schemas.microsoft.com/office/drawing/2014/main" id="{B2236264-88A5-6F6F-BFF9-F04E176E7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l-PL" b="1" kern="1200" cap="all" spc="40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n-ea"/>
                <a:cs typeface="+mn-cs"/>
              </a:rPr>
              <a:t>TYTUŁ PREZENTACJI</a:t>
            </a:r>
          </a:p>
        </p:txBody>
      </p:sp>
      <p:sp>
        <p:nvSpPr>
          <p:cNvPr id="11" name="Numer slajdu — symbol zastępczy 10">
            <a:extLst>
              <a:ext uri="{FF2B5EF4-FFF2-40B4-BE49-F238E27FC236}">
                <a16:creationId xmlns:a16="http://schemas.microsoft.com/office/drawing/2014/main" id="{C4DAEE41-8EB3-C05E-F844-160237233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smtClean="0"/>
              <a:pPr>
                <a:spcAft>
                  <a:spcPts val="600"/>
                </a:spcAft>
                <a:defRPr/>
              </a:pPr>
              <a:t>6</a:t>
            </a:fld>
            <a:endParaRPr lang="pl-PL"/>
          </a:p>
        </p:txBody>
      </p:sp>
      <p:sp>
        <p:nvSpPr>
          <p:cNvPr id="35" name="Data — symbol zastępczy 34">
            <a:extLst>
              <a:ext uri="{FF2B5EF4-FFF2-40B4-BE49-F238E27FC236}">
                <a16:creationId xmlns:a16="http://schemas.microsoft.com/office/drawing/2014/main" id="{19FAA9B8-B5FB-831A-9E4E-DC418E3FF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pl-PL" b="1" kern="1200" cap="all" spc="40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n-ea"/>
                <a:cs typeface="+mn-cs"/>
              </a:rPr>
              <a:t>21 maja 20XX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A801C361-633C-BCC1-7723-80663E510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431" y="93733"/>
            <a:ext cx="6200508" cy="66851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941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D7BC-2D22-ADAF-7D2D-9413A7F3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26">
            <a:extLst>
              <a:ext uri="{FF2B5EF4-FFF2-40B4-BE49-F238E27FC236}">
                <a16:creationId xmlns:a16="http://schemas.microsoft.com/office/drawing/2014/main" id="{065EF2EF-1CE0-D0B0-7050-B05DFB3DA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975" y="1144939"/>
            <a:ext cx="5473874" cy="687833"/>
          </a:xfrm>
        </p:spPr>
        <p:txBody>
          <a:bodyPr rtlCol="0" anchor="b">
            <a:normAutofit/>
          </a:bodyPr>
          <a:lstStyle/>
          <a:p>
            <a:pPr rtl="0"/>
            <a:r>
              <a:rPr lang="pl-PL" dirty="0"/>
              <a:t>WYKRES WIEKU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460188D-A345-E2B7-399F-47F23B038E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19730" y="1836492"/>
            <a:ext cx="5152539" cy="718457"/>
          </a:xfrm>
        </p:spPr>
        <p:txBody>
          <a:bodyPr/>
          <a:lstStyle/>
          <a:p>
            <a:r>
              <a:rPr lang="pl-PL" dirty="0"/>
              <a:t>Interesującą kolumną jest wiek, gdzie osoby starsze rezygnują znacznie częściej, niż młodzi ludzie.</a:t>
            </a:r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CB956601-A947-3380-23B4-4D91EBA3248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56111" y="3006049"/>
            <a:ext cx="3574251" cy="448769"/>
          </a:xfrm>
        </p:spPr>
        <p:txBody>
          <a:bodyPr/>
          <a:lstStyle/>
          <a:p>
            <a:r>
              <a:rPr lang="pl-PL" dirty="0"/>
              <a:t>Wykres dystrybucji wieku</a:t>
            </a:r>
            <a:endParaRPr lang="en-US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9B67BA37-9FAF-CE07-D009-4C4D45AD7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79" r="-3" b="-3"/>
          <a:stretch>
            <a:fillRect/>
          </a:stretch>
        </p:blipFill>
        <p:spPr>
          <a:xfrm>
            <a:off x="866775" y="3333750"/>
            <a:ext cx="4352925" cy="2636837"/>
          </a:xfrm>
          <a:prstGeom prst="rect">
            <a:avLst/>
          </a:prstGeom>
          <a:noFill/>
        </p:spPr>
      </p:pic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2F4217BA-2C5E-3B3D-8791-11A9D38266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822983" y="2984768"/>
            <a:ext cx="3574251" cy="334872"/>
          </a:xfrm>
        </p:spPr>
        <p:txBody>
          <a:bodyPr/>
          <a:lstStyle/>
          <a:p>
            <a:r>
              <a:rPr lang="pl-PL" dirty="0"/>
              <a:t>Wykres pudełkowy wieku</a:t>
            </a:r>
            <a:endParaRPr lang="en-US" dirty="0"/>
          </a:p>
        </p:txBody>
      </p:sp>
      <p:sp>
        <p:nvSpPr>
          <p:cNvPr id="51" name="Slide Number Placeholder 7">
            <a:extLst>
              <a:ext uri="{FF2B5EF4-FFF2-40B4-BE49-F238E27FC236}">
                <a16:creationId xmlns:a16="http://schemas.microsoft.com/office/drawing/2014/main" id="{7C911FD8-269A-52A3-9978-369731BE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noProof="0" smtClean="0"/>
              <a:pPr>
                <a:spcAft>
                  <a:spcPts val="600"/>
                </a:spcAft>
                <a:defRPr/>
              </a:pPr>
              <a:t>7</a:t>
            </a:fld>
            <a:endParaRPr lang="pl-PL" noProof="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32C373B-9C9A-83DD-76BB-316FFEAD6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06" r="-3" b="-3"/>
          <a:stretch>
            <a:fillRect/>
          </a:stretch>
        </p:blipFill>
        <p:spPr>
          <a:xfrm>
            <a:off x="6433647" y="3333750"/>
            <a:ext cx="4352925" cy="2636837"/>
          </a:xfrm>
          <a:prstGeom prst="rect">
            <a:avLst/>
          </a:prstGeom>
          <a:noFill/>
        </p:spPr>
      </p:pic>
      <p:sp>
        <p:nvSpPr>
          <p:cNvPr id="11" name="Numer slajdu — symbol zastępczy 10" hidden="1">
            <a:extLst>
              <a:ext uri="{FF2B5EF4-FFF2-40B4-BE49-F238E27FC236}">
                <a16:creationId xmlns:a16="http://schemas.microsoft.com/office/drawing/2014/main" id="{1CB67EAF-D981-378C-8C81-DE55FB12B6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19019" y="3164804"/>
            <a:ext cx="545911" cy="580029"/>
          </a:xfrm>
        </p:spPr>
        <p:txBody>
          <a:bodyPr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smtClean="0"/>
              <a:pPr>
                <a:spcAft>
                  <a:spcPts val="600"/>
                </a:spcAft>
                <a:defRPr/>
              </a:pPr>
              <a:t>7</a:t>
            </a:fld>
            <a:endParaRPr lang="pl-PL"/>
          </a:p>
        </p:txBody>
      </p:sp>
      <p:sp>
        <p:nvSpPr>
          <p:cNvPr id="35" name="Data — symbol zastępczy 34" hidden="1">
            <a:extLst>
              <a:ext uri="{FF2B5EF4-FFF2-40B4-BE49-F238E27FC236}">
                <a16:creationId xmlns:a16="http://schemas.microsoft.com/office/drawing/2014/main" id="{40FEA0EB-61BB-1813-4D05-FA5346567EF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 rot="5400000">
            <a:off x="10595991" y="5074920"/>
            <a:ext cx="2647667" cy="365125"/>
          </a:xfrm>
        </p:spPr>
        <p:txBody>
          <a:bodyPr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pl-PL" b="1" kern="1200" cap="all" spc="40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+mn-ea"/>
                <a:cs typeface="+mn-cs"/>
              </a:rPr>
              <a:t>21 maja 20XX</a:t>
            </a:r>
          </a:p>
        </p:txBody>
      </p:sp>
    </p:spTree>
    <p:extLst>
      <p:ext uri="{BB962C8B-B14F-4D97-AF65-F5344CB8AC3E}">
        <p14:creationId xmlns:p14="http://schemas.microsoft.com/office/powerpoint/2010/main" val="28264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ytuł 23">
            <a:extLst>
              <a:ext uri="{FF2B5EF4-FFF2-40B4-BE49-F238E27FC236}">
                <a16:creationId xmlns:a16="http://schemas.microsoft.com/office/drawing/2014/main" id="{F92EC24E-3E0A-471B-9A70-B29306D2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093" y="1823626"/>
            <a:ext cx="5236496" cy="580029"/>
          </a:xfrm>
        </p:spPr>
        <p:txBody>
          <a:bodyPr rtlCol="0"/>
          <a:lstStyle/>
          <a:p>
            <a:pPr algn="ctr" rtl="0"/>
            <a:r>
              <a:rPr lang="pl-PL" dirty="0"/>
              <a:t>Wybór modeli</a:t>
            </a:r>
          </a:p>
        </p:txBody>
      </p:sp>
      <p:sp>
        <p:nvSpPr>
          <p:cNvPr id="39" name="Tekst — symbol zastępczy 38">
            <a:extLst>
              <a:ext uri="{FF2B5EF4-FFF2-40B4-BE49-F238E27FC236}">
                <a16:creationId xmlns:a16="http://schemas.microsoft.com/office/drawing/2014/main" id="{2B0040E8-BBFE-4B5E-9ADF-88F6C234CB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6632" y="2831965"/>
            <a:ext cx="7021418" cy="2425517"/>
          </a:xfrm>
        </p:spPr>
        <p:txBody>
          <a:bodyPr rtlCol="0"/>
          <a:lstStyle/>
          <a:p>
            <a:r>
              <a:rPr lang="pl-PL" dirty="0"/>
              <a:t>Do klasyfikacji tego zbioru używa się najczęściej 4 modeli:</a:t>
            </a:r>
          </a:p>
          <a:p>
            <a:r>
              <a:rPr lang="pl-PL" dirty="0"/>
              <a:t>                       - </a:t>
            </a:r>
            <a:r>
              <a:rPr lang="pl-PL" b="1" dirty="0" err="1"/>
              <a:t>XGBoost</a:t>
            </a:r>
            <a:r>
              <a:rPr lang="pl-PL" b="1" dirty="0"/>
              <a:t> </a:t>
            </a:r>
            <a:r>
              <a:rPr lang="pl-PL" b="1" dirty="0">
                <a:sym typeface="Wingdings" panose="05000000000000000000" pitchFamily="2" charset="2"/>
              </a:rPr>
              <a:t> użyjemy tego</a:t>
            </a:r>
            <a:endParaRPr lang="pl-PL" dirty="0"/>
          </a:p>
          <a:p>
            <a:r>
              <a:rPr lang="pl-PL" dirty="0"/>
              <a:t>                      - </a:t>
            </a:r>
            <a:r>
              <a:rPr lang="pl-PL" b="1" dirty="0" err="1"/>
              <a:t>Random</a:t>
            </a:r>
            <a:r>
              <a:rPr lang="pl-PL" b="1" dirty="0"/>
              <a:t> </a:t>
            </a:r>
            <a:r>
              <a:rPr lang="pl-PL" b="1" dirty="0" err="1"/>
              <a:t>Forest</a:t>
            </a:r>
            <a:r>
              <a:rPr lang="pl-PL" b="1" dirty="0"/>
              <a:t> </a:t>
            </a:r>
            <a:r>
              <a:rPr lang="pl-PL" b="1" dirty="0">
                <a:sym typeface="Wingdings" panose="05000000000000000000" pitchFamily="2" charset="2"/>
              </a:rPr>
              <a:t> użyjemy tego</a:t>
            </a:r>
            <a:endParaRPr lang="pl-PL" dirty="0"/>
          </a:p>
          <a:p>
            <a:r>
              <a:rPr lang="pl-PL" dirty="0"/>
              <a:t>- </a:t>
            </a:r>
            <a:r>
              <a:rPr lang="pl-PL" b="1" dirty="0"/>
              <a:t>Regresja Logistyczna</a:t>
            </a:r>
            <a:endParaRPr lang="pl-PL" dirty="0"/>
          </a:p>
          <a:p>
            <a:r>
              <a:rPr lang="pl-PL" dirty="0"/>
              <a:t>- </a:t>
            </a:r>
            <a:r>
              <a:rPr lang="pl-PL" b="1" dirty="0" err="1"/>
              <a:t>LightGBM</a:t>
            </a:r>
            <a:endParaRPr lang="pl-PL" dirty="0"/>
          </a:p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BF20B7A-39DA-4D7C-96BB-B2A9565A4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 rtl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191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FB86-4829-3378-933D-6BC3FDBD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ytuł 33">
            <a:extLst>
              <a:ext uri="{FF2B5EF4-FFF2-40B4-BE49-F238E27FC236}">
                <a16:creationId xmlns:a16="http://schemas.microsoft.com/office/drawing/2014/main" id="{DD93FFED-89CC-658F-EBA1-34E15EBD8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735" y="597995"/>
            <a:ext cx="5606111" cy="878818"/>
          </a:xfrm>
        </p:spPr>
        <p:txBody>
          <a:bodyPr rtlCol="0"/>
          <a:lstStyle/>
          <a:p>
            <a:pPr rtl="0"/>
            <a:r>
              <a:rPr lang="pl-PL" dirty="0"/>
              <a:t>WYBÓR MODELI klasyfikacji zbioru</a:t>
            </a:r>
          </a:p>
        </p:txBody>
      </p:sp>
      <p:sp>
        <p:nvSpPr>
          <p:cNvPr id="40" name="Tekst — symbol zastępczy 39">
            <a:extLst>
              <a:ext uri="{FF2B5EF4-FFF2-40B4-BE49-F238E27FC236}">
                <a16:creationId xmlns:a16="http://schemas.microsoft.com/office/drawing/2014/main" id="{66E98849-A873-8EB2-1E6A-832869EAA8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5511" y="3417877"/>
            <a:ext cx="2806280" cy="365125"/>
          </a:xfrm>
        </p:spPr>
        <p:txBody>
          <a:bodyPr rtlCol="0"/>
          <a:lstStyle/>
          <a:p>
            <a:pPr rtl="0"/>
            <a:r>
              <a:rPr lang="pl-PL" dirty="0" err="1"/>
              <a:t>XGBoost</a:t>
            </a:r>
            <a:endParaRPr lang="pl-PL" dirty="0"/>
          </a:p>
        </p:txBody>
      </p:sp>
      <p:sp>
        <p:nvSpPr>
          <p:cNvPr id="41" name="Tekst — symbol zastępczy 40">
            <a:extLst>
              <a:ext uri="{FF2B5EF4-FFF2-40B4-BE49-F238E27FC236}">
                <a16:creationId xmlns:a16="http://schemas.microsoft.com/office/drawing/2014/main" id="{2C2DC998-533B-60F3-C33C-DAEADF04D9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5511" y="3766050"/>
            <a:ext cx="2806280" cy="1148945"/>
          </a:xfrm>
        </p:spPr>
        <p:txBody>
          <a:bodyPr rtlCol="0"/>
          <a:lstStyle/>
          <a:p>
            <a:pPr rtl="0"/>
            <a:r>
              <a:rPr lang="pl-PL" b="1" dirty="0" err="1"/>
              <a:t>XGBoost</a:t>
            </a:r>
            <a:r>
              <a:rPr lang="pl-PL" dirty="0"/>
              <a:t> jest świetny do danych tabelarycznych, działając na zasadzie sekwencyjnego budowania drzew decyzyjnych, gdzie każde kolejne drzewo poprawia błędy swoich poprzedników.</a:t>
            </a:r>
          </a:p>
        </p:txBody>
      </p:sp>
      <p:sp>
        <p:nvSpPr>
          <p:cNvPr id="42" name="Tekst — symbol zastępczy 41">
            <a:extLst>
              <a:ext uri="{FF2B5EF4-FFF2-40B4-BE49-F238E27FC236}">
                <a16:creationId xmlns:a16="http://schemas.microsoft.com/office/drawing/2014/main" id="{F5707BA1-82B8-59C3-8175-906EE1FCD6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4520" y="3400925"/>
            <a:ext cx="2806280" cy="365125"/>
          </a:xfrm>
        </p:spPr>
        <p:txBody>
          <a:bodyPr rtlCol="0"/>
          <a:lstStyle/>
          <a:p>
            <a:pPr rtl="0"/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endParaRPr lang="pl-PL" dirty="0"/>
          </a:p>
        </p:txBody>
      </p:sp>
      <p:sp>
        <p:nvSpPr>
          <p:cNvPr id="43" name="Tekst — symbol zastępczy 42">
            <a:extLst>
              <a:ext uri="{FF2B5EF4-FFF2-40B4-BE49-F238E27FC236}">
                <a16:creationId xmlns:a16="http://schemas.microsoft.com/office/drawing/2014/main" id="{099F9477-FBEB-7613-8101-F3692DC1A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4520" y="3749098"/>
            <a:ext cx="2806280" cy="1148945"/>
          </a:xfrm>
        </p:spPr>
        <p:txBody>
          <a:bodyPr rtlCol="0"/>
          <a:lstStyle/>
          <a:p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 to model typu Ensemble oparty na tzw. </a:t>
            </a:r>
            <a:r>
              <a:rPr lang="pl-PL" b="1" dirty="0" err="1"/>
              <a:t>baggingu</a:t>
            </a:r>
            <a:r>
              <a:rPr lang="pl-PL" dirty="0"/>
              <a:t> – tworzy setki niezależnych drzew decyzyjnych i podejmuje decyzję na zasadzie większościowego głosowania.</a:t>
            </a:r>
          </a:p>
        </p:txBody>
      </p:sp>
      <p:sp>
        <p:nvSpPr>
          <p:cNvPr id="44" name="Tekst — symbol zastępczy 43">
            <a:extLst>
              <a:ext uri="{FF2B5EF4-FFF2-40B4-BE49-F238E27FC236}">
                <a16:creationId xmlns:a16="http://schemas.microsoft.com/office/drawing/2014/main" id="{6875B6B9-3F23-2747-A4FD-B23E9BCC4B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3529" y="3400925"/>
            <a:ext cx="2692240" cy="365125"/>
          </a:xfrm>
        </p:spPr>
        <p:txBody>
          <a:bodyPr rtlCol="0"/>
          <a:lstStyle/>
          <a:p>
            <a:pPr rtl="0"/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endParaRPr lang="pl-PL" dirty="0"/>
          </a:p>
          <a:p>
            <a:pPr rtl="0"/>
            <a:r>
              <a:rPr lang="pl-PL" dirty="0"/>
              <a:t>(binarny target)</a:t>
            </a:r>
          </a:p>
        </p:txBody>
      </p:sp>
      <p:sp>
        <p:nvSpPr>
          <p:cNvPr id="45" name="Tekst — symbol zastępczy 44">
            <a:extLst>
              <a:ext uri="{FF2B5EF4-FFF2-40B4-BE49-F238E27FC236}">
                <a16:creationId xmlns:a16="http://schemas.microsoft.com/office/drawing/2014/main" id="{2A0CD1D7-43AD-6770-3334-A2BB7ED627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63529" y="4060071"/>
            <a:ext cx="2692240" cy="1148945"/>
          </a:xfrm>
        </p:spPr>
        <p:txBody>
          <a:bodyPr rtlCol="0"/>
          <a:lstStyle/>
          <a:p>
            <a:pPr rtl="0"/>
            <a:r>
              <a:rPr lang="pl-PL" dirty="0"/>
              <a:t>Dla celów eksperymentalnych pokażemy również wyniki dla modelu klasyfikacji konwersji trzech zmiennych na dwie (</a:t>
            </a:r>
            <a:r>
              <a:rPr lang="pl-PL" dirty="0" err="1"/>
              <a:t>Enrolled</a:t>
            </a:r>
            <a:r>
              <a:rPr lang="pl-PL" dirty="0"/>
              <a:t> przejdzie do </a:t>
            </a:r>
            <a:r>
              <a:rPr lang="pl-PL" dirty="0" err="1"/>
              <a:t>Graduate</a:t>
            </a:r>
            <a:r>
              <a:rPr lang="pl-PL" dirty="0"/>
              <a:t>).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953767CE-2A56-3EDF-3A13-6A2153525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 rtl="0"/>
              <a:t>9</a:t>
            </a:fld>
            <a:endParaRPr lang="pl-PL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0A1F2DDA-D3E7-1F15-58B1-75A4F6D3F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68225" y="2771218"/>
            <a:ext cx="65900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wal 12">
            <a:extLst>
              <a:ext uri="{FF2B5EF4-FFF2-40B4-BE49-F238E27FC236}">
                <a16:creationId xmlns:a16="http://schemas.microsoft.com/office/drawing/2014/main" id="{3F317CBA-E5C2-5970-7D99-5756B895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5812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>
              <a:latin typeface="Calibri Light" panose="020F0302020204030204" pitchFamily="34" charset="0"/>
            </a:endParaRPr>
          </a:p>
        </p:txBody>
      </p:sp>
      <p:pic>
        <p:nvPicPr>
          <p:cNvPr id="14" name="Grafika 13">
            <a:extLst>
              <a:ext uri="{FF2B5EF4-FFF2-40B4-BE49-F238E27FC236}">
                <a16:creationId xmlns:a16="http://schemas.microsoft.com/office/drawing/2014/main" id="{1128E1BA-F163-BD7A-5727-6B69B56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9077" y="2471644"/>
            <a:ext cx="599148" cy="599148"/>
          </a:xfrm>
          <a:prstGeom prst="rect">
            <a:avLst/>
          </a:prstGeom>
        </p:spPr>
      </p:pic>
      <p:sp>
        <p:nvSpPr>
          <p:cNvPr id="15" name="Owal 14">
            <a:extLst>
              <a:ext uri="{FF2B5EF4-FFF2-40B4-BE49-F238E27FC236}">
                <a16:creationId xmlns:a16="http://schemas.microsoft.com/office/drawing/2014/main" id="{995C7F1E-7D83-4558-E670-F0FBDE54B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4821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>
              <a:latin typeface="Calibri Light" panose="020F0302020204030204" pitchFamily="34" charset="0"/>
            </a:endParaRPr>
          </a:p>
        </p:txBody>
      </p:sp>
      <p:pic>
        <p:nvPicPr>
          <p:cNvPr id="16" name="Grafika 15">
            <a:extLst>
              <a:ext uri="{FF2B5EF4-FFF2-40B4-BE49-F238E27FC236}">
                <a16:creationId xmlns:a16="http://schemas.microsoft.com/office/drawing/2014/main" id="{3E5C1881-A9A0-4063-BCF0-E96B8AF8C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8086" y="2471644"/>
            <a:ext cx="599148" cy="599148"/>
          </a:xfrm>
          <a:prstGeom prst="rect">
            <a:avLst/>
          </a:prstGeom>
        </p:spPr>
      </p:pic>
      <p:sp>
        <p:nvSpPr>
          <p:cNvPr id="17" name="Owal 16">
            <a:extLst>
              <a:ext uri="{FF2B5EF4-FFF2-40B4-BE49-F238E27FC236}">
                <a16:creationId xmlns:a16="http://schemas.microsoft.com/office/drawing/2014/main" id="{006562BC-8FF9-3C5E-1931-63ACD59C1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66955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>
              <a:latin typeface="Calibri Light" panose="020F0302020204030204" pitchFamily="34" charset="0"/>
            </a:endParaRPr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5A790669-95DF-C94A-EC77-FB9B086AF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0220" y="2471644"/>
            <a:ext cx="599148" cy="59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7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3CB0-34D1-CBB2-ED5D-BC7DE96C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DEE0A676-7DDD-D02C-767C-6BB49327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57687"/>
            <a:ext cx="8039069" cy="687834"/>
          </a:xfrm>
        </p:spPr>
        <p:txBody>
          <a:bodyPr rtlCol="0">
            <a:noAutofit/>
          </a:bodyPr>
          <a:lstStyle/>
          <a:p>
            <a:pPr rtl="0"/>
            <a:r>
              <a:rPr lang="pl-PL" sz="1800" dirty="0"/>
              <a:t>Wykres przedstawiający top 10 najważniejszych cech według </a:t>
            </a:r>
            <a:r>
              <a:rPr lang="pl-PL" sz="1800" dirty="0" err="1"/>
              <a:t>random</a:t>
            </a:r>
            <a:r>
              <a:rPr lang="pl-PL" sz="1800" dirty="0"/>
              <a:t> </a:t>
            </a:r>
            <a:r>
              <a:rPr lang="pl-PL" sz="1800" dirty="0" err="1"/>
              <a:t>forest</a:t>
            </a:r>
            <a:endParaRPr lang="pl-PL" sz="1800" dirty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08D46154-3C9F-E82F-367E-C92252ED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8" y="1376248"/>
            <a:ext cx="7988860" cy="4773343"/>
          </a:xfrm>
          <a:prstGeom prst="rect">
            <a:avLst/>
          </a:prstGeo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8D86268-282A-D159-92DB-34BC83E2C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noProof="0" smtClean="0"/>
              <a:pPr>
                <a:spcAft>
                  <a:spcPts val="600"/>
                </a:spcAft>
                <a:defRPr/>
              </a:pPr>
              <a:t>10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79578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2EEEFBA2-D2C5-483D-A977-8998D167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rtlCol="0" anchor="ctr">
            <a:norm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Macierz pomyłek </a:t>
            </a:r>
            <a:br>
              <a:rPr lang="pl-PL" sz="4400" dirty="0">
                <a:solidFill>
                  <a:schemeClr val="bg1"/>
                </a:solidFill>
              </a:rPr>
            </a:br>
            <a:r>
              <a:rPr lang="pl-PL" sz="4400" dirty="0">
                <a:solidFill>
                  <a:schemeClr val="bg1"/>
                </a:solidFill>
              </a:rPr>
              <a:t>RANDOM FOREST</a:t>
            </a:r>
            <a:endParaRPr lang="pl-PL" sz="4400" b="0" dirty="0">
              <a:solidFill>
                <a:schemeClr val="bg1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A082B20-79B0-F273-7B7F-85643D9516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92" r="-2" b="-2"/>
          <a:stretch>
            <a:fillRect/>
          </a:stretch>
        </p:blipFill>
        <p:spPr>
          <a:xfrm>
            <a:off x="553799" y="1882140"/>
            <a:ext cx="5067300" cy="4352544"/>
          </a:xfrm>
          <a:prstGeom prst="rect">
            <a:avLst/>
          </a:prstGeom>
          <a:noFill/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CF7C6513-C625-9567-4EAC-E9E1F5240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774" y="1884652"/>
            <a:ext cx="5818427" cy="43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BCCF5-0846-1CD3-EA2D-3B0F8FC73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1A7961CE-D990-46C9-24D0-356552257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660400"/>
            <a:ext cx="6922876" cy="687834"/>
          </a:xfrm>
        </p:spPr>
        <p:txBody>
          <a:bodyPr rtlCol="0">
            <a:normAutofit/>
          </a:bodyPr>
          <a:lstStyle/>
          <a:p>
            <a:r>
              <a:rPr lang="pl-PL" sz="2000" dirty="0"/>
              <a:t>Rozkład klas -	 RANDOM FOREST</a:t>
            </a:r>
            <a:endParaRPr lang="pl-PL" sz="2000" b="0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B67484E6-BDBA-3EFC-91BF-E683DB62F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noProof="0" smtClean="0"/>
              <a:pPr>
                <a:spcAft>
                  <a:spcPts val="600"/>
                </a:spcAft>
                <a:defRPr/>
              </a:pPr>
              <a:t>12</a:t>
            </a:fld>
            <a:endParaRPr lang="pl-PL" noProof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853B1D3F-8FEE-FAC6-3436-327085859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7" y="1099092"/>
            <a:ext cx="7561949" cy="55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3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1ACC1-0997-5DF6-2CD5-991B44B7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AACF2A8C-3846-950D-6A6B-264B7905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7" y="660400"/>
            <a:ext cx="7726781" cy="687834"/>
          </a:xfrm>
        </p:spPr>
        <p:txBody>
          <a:bodyPr rtlCol="0">
            <a:normAutofit/>
          </a:bodyPr>
          <a:lstStyle/>
          <a:p>
            <a:r>
              <a:rPr lang="pl-PL" sz="2000" dirty="0"/>
              <a:t>Rozkład klas -	 </a:t>
            </a:r>
            <a:r>
              <a:rPr lang="pl-PL" sz="2000" dirty="0" err="1"/>
              <a:t>binary</a:t>
            </a:r>
            <a:r>
              <a:rPr lang="pl-PL" sz="2000" dirty="0"/>
              <a:t> RANDOM FOREST</a:t>
            </a:r>
            <a:endParaRPr lang="pl-PL" sz="2000" b="0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D0B4793-D31C-522E-8796-0161E161F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noProof="0" smtClean="0"/>
              <a:pPr>
                <a:spcAft>
                  <a:spcPts val="600"/>
                </a:spcAft>
                <a:defRPr/>
              </a:pPr>
              <a:t>13</a:t>
            </a:fld>
            <a:endParaRPr lang="pl-PL" noProof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F4ABEF7-9211-F3DF-7F31-0E736712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87" y="1035137"/>
            <a:ext cx="7615031" cy="541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94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1">
            <a:extLst>
              <a:ext uri="{FF2B5EF4-FFF2-40B4-BE49-F238E27FC236}">
                <a16:creationId xmlns:a16="http://schemas.microsoft.com/office/drawing/2014/main" id="{E8F5D34E-F679-45F4-BFC9-B9B401E5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9" y="527542"/>
            <a:ext cx="8139552" cy="687834"/>
          </a:xfrm>
        </p:spPr>
        <p:txBody>
          <a:bodyPr rtlCol="0"/>
          <a:lstStyle/>
          <a:p>
            <a:pPr rtl="0"/>
            <a:r>
              <a:rPr lang="pl-PL" dirty="0"/>
              <a:t>Porównanie wyników </a:t>
            </a:r>
            <a:r>
              <a:rPr lang="pl-PL" dirty="0" err="1"/>
              <a:t>rf</a:t>
            </a:r>
            <a:r>
              <a:rPr lang="pl-PL" dirty="0"/>
              <a:t> VS </a:t>
            </a:r>
            <a:r>
              <a:rPr lang="pl-PL" dirty="0" err="1"/>
              <a:t>rf</a:t>
            </a:r>
            <a:r>
              <a:rPr lang="pl-PL" dirty="0"/>
              <a:t> (b)</a:t>
            </a:r>
          </a:p>
        </p:txBody>
      </p:sp>
      <p:graphicFrame>
        <p:nvGraphicFramePr>
          <p:cNvPr id="40" name="Zawartość — symbol zastępczy 39">
            <a:extLst>
              <a:ext uri="{FF2B5EF4-FFF2-40B4-BE49-F238E27FC236}">
                <a16:creationId xmlns:a16="http://schemas.microsoft.com/office/drawing/2014/main" id="{C4173BE0-AA34-4982-97CE-4DE4B553BD2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221174771"/>
              </p:ext>
            </p:extLst>
          </p:nvPr>
        </p:nvGraphicFramePr>
        <p:xfrm>
          <a:off x="692949" y="1129292"/>
          <a:ext cx="7655604" cy="506904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090444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1657978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125416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346479">
                  <a:extLst>
                    <a:ext uri="{9D8B030D-6E8A-4147-A177-3AD203B41FA5}">
                      <a16:colId xmlns:a16="http://schemas.microsoft.com/office/drawing/2014/main" val="1854486728"/>
                    </a:ext>
                  </a:extLst>
                </a:gridCol>
                <a:gridCol w="1435287">
                  <a:extLst>
                    <a:ext uri="{9D8B030D-6E8A-4147-A177-3AD203B41FA5}">
                      <a16:colId xmlns:a16="http://schemas.microsoft.com/office/drawing/2014/main" val="1808496511"/>
                    </a:ext>
                  </a:extLst>
                </a:gridCol>
              </a:tblGrid>
              <a:tr h="412269">
                <a:tc>
                  <a:txBody>
                    <a:bodyPr/>
                    <a:lstStyle/>
                    <a:p>
                      <a:pPr algn="r" rtl="0"/>
                      <a:r>
                        <a:rPr lang="pl-PL" sz="2000" b="1" cap="all" spc="400" baseline="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PRECISSION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55174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0.84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0.80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282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62812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0.57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0.37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0.45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165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382780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2​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0.79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438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Macro </a:t>
                      </a:r>
                      <a:r>
                        <a:rPr lang="pl-PL" sz="1200" b="0" i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0.69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37735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Weighted</a:t>
                      </a:r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 </a:t>
                      </a:r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r>
                        <a:rPr lang="pl-PL" sz="1200" b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​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356068">
                <a:tc>
                  <a:txBody>
                    <a:bodyPr/>
                    <a:lstStyle/>
                    <a:p>
                      <a:pPr algn="l" rtl="0" fontAlgn="base"/>
                      <a:r>
                        <a:rPr lang="pl-PL" sz="1200" b="1" u="none" strike="noStrike" cap="all" spc="20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ACCURACY: 77.63%</a:t>
                      </a:r>
                      <a:endParaRPr lang="pl-PL" sz="1200" b="0" i="0" cap="all" spc="200" baseline="0" noProof="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Trójklasowy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[D, E, G]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0.78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363010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282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867358"/>
                  </a:ext>
                </a:extLst>
              </a:tr>
              <a:tr h="3676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603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  <a:tr h="360261"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67748"/>
                  </a:ext>
                </a:extLst>
              </a:tr>
              <a:tr h="345153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Macro </a:t>
                      </a:r>
                      <a:r>
                        <a:rPr lang="pl-PL" sz="1200" b="0" i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341114"/>
                  </a:ext>
                </a:extLst>
              </a:tr>
              <a:tr h="350729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Weighted</a:t>
                      </a:r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 </a:t>
                      </a:r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r>
                        <a:rPr lang="pl-PL" sz="1200" b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​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7110"/>
                  </a:ext>
                </a:extLst>
              </a:tr>
              <a:tr h="354904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1" u="none" strike="noStrike" cap="all" spc="20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ACCURACY: 89.60%</a:t>
                      </a:r>
                      <a:endParaRPr lang="pl-PL" sz="1200" b="0" i="0" cap="all" spc="200" baseline="0" noProof="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Dwuklasowy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[D, E+G]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74008"/>
                  </a:ext>
                </a:extLst>
              </a:tr>
              <a:tr h="354904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+11,97%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+0.14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+0.12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+0.12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FFFF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353374"/>
                  </a:ext>
                </a:extLst>
              </a:tr>
            </a:tbl>
          </a:graphicData>
        </a:graphic>
      </p:graphicFrame>
      <p:sp>
        <p:nvSpPr>
          <p:cNvPr id="33" name="Numer slajdu — symbol zastępczy 32">
            <a:extLst>
              <a:ext uri="{FF2B5EF4-FFF2-40B4-BE49-F238E27FC236}">
                <a16:creationId xmlns:a16="http://schemas.microsoft.com/office/drawing/2014/main" id="{705E33BA-D532-4BFC-985F-6257C8C95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 rtl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7591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2E4A8-C5D3-7777-6FB7-3E91640A9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83871943-7998-84DE-85FC-DB7B98A5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57687"/>
            <a:ext cx="8039069" cy="687834"/>
          </a:xfrm>
        </p:spPr>
        <p:txBody>
          <a:bodyPr rtlCol="0">
            <a:noAutofit/>
          </a:bodyPr>
          <a:lstStyle/>
          <a:p>
            <a:pPr rtl="0"/>
            <a:r>
              <a:rPr lang="pl-PL" sz="1800" dirty="0"/>
              <a:t>Wykres przedstawiający top 10 najważniejszych cech według </a:t>
            </a:r>
            <a:r>
              <a:rPr lang="pl-PL" sz="1800" dirty="0" err="1"/>
              <a:t>xgbOOST</a:t>
            </a:r>
            <a:endParaRPr lang="pl-PL" sz="1800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2F911CF-0222-0CB2-9F08-0474E45C4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noProof="0" smtClean="0"/>
              <a:pPr>
                <a:spcAft>
                  <a:spcPts val="600"/>
                </a:spcAft>
                <a:defRPr/>
              </a:pPr>
              <a:t>15</a:t>
            </a:fld>
            <a:endParaRPr lang="pl-PL" noProof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C896983-5295-B4C6-D19B-53432C3A5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8" y="1121543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83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68106-A71B-1859-7ED2-7FD70E6B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7C8F69BD-436D-24E3-93DB-E72FBB5F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rtlCol="0" anchor="ctr">
            <a:normAutofit/>
          </a:bodyPr>
          <a:lstStyle/>
          <a:p>
            <a:r>
              <a:rPr lang="pl-PL" sz="4400" dirty="0">
                <a:solidFill>
                  <a:schemeClr val="bg1"/>
                </a:solidFill>
              </a:rPr>
              <a:t>Macierz pomyłek </a:t>
            </a:r>
            <a:br>
              <a:rPr lang="pl-PL" sz="4400" dirty="0">
                <a:solidFill>
                  <a:schemeClr val="bg1"/>
                </a:solidFill>
              </a:rPr>
            </a:br>
            <a:r>
              <a:rPr lang="pl-PL" sz="4400" dirty="0" err="1">
                <a:solidFill>
                  <a:schemeClr val="bg1"/>
                </a:solidFill>
              </a:rPr>
              <a:t>xgboost</a:t>
            </a:r>
            <a:endParaRPr lang="pl-PL" sz="4400" b="0" dirty="0">
              <a:solidFill>
                <a:schemeClr val="bg1"/>
              </a:solidFill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218E2155-8E8B-531F-3574-20C90B6B3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1833719"/>
            <a:ext cx="107156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30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2A381-1708-3423-3369-3B0ABBE7F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B3C7A182-26C9-3AEF-049C-49C8D2D8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660400"/>
            <a:ext cx="6922876" cy="687834"/>
          </a:xfrm>
        </p:spPr>
        <p:txBody>
          <a:bodyPr rtlCol="0">
            <a:normAutofit/>
          </a:bodyPr>
          <a:lstStyle/>
          <a:p>
            <a:r>
              <a:rPr lang="pl-PL" sz="2000" dirty="0"/>
              <a:t>Rozkład klas -	 </a:t>
            </a:r>
            <a:r>
              <a:rPr lang="pl-PL" sz="2000" dirty="0" err="1"/>
              <a:t>xgboost</a:t>
            </a:r>
            <a:endParaRPr lang="pl-PL" sz="2000" b="0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AE9F8F4D-1DDB-4024-62BA-E367918E9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8D1FC6F8-0BCD-47E9-9C64-690771D9C143}" type="slidenum">
              <a:rPr lang="pl-PL" noProof="0" smtClean="0"/>
              <a:pPr>
                <a:spcAft>
                  <a:spcPts val="600"/>
                </a:spcAft>
                <a:defRPr/>
              </a:pPr>
              <a:t>17</a:t>
            </a:fld>
            <a:endParaRPr lang="pl-PL" noProof="0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126CFDFA-A71E-1F07-311D-6727D5B73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38" y="1120286"/>
            <a:ext cx="8329682" cy="562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02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88B0-7F12-08EC-189A-BE9E404F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1">
            <a:extLst>
              <a:ext uri="{FF2B5EF4-FFF2-40B4-BE49-F238E27FC236}">
                <a16:creationId xmlns:a16="http://schemas.microsoft.com/office/drawing/2014/main" id="{85CAA5E2-8FCF-C6FB-F4AA-B2C0B889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48" y="527542"/>
            <a:ext cx="8611826" cy="687834"/>
          </a:xfrm>
        </p:spPr>
        <p:txBody>
          <a:bodyPr rtlCol="0"/>
          <a:lstStyle/>
          <a:p>
            <a:pPr rtl="0"/>
            <a:r>
              <a:rPr lang="pl-PL" dirty="0"/>
              <a:t>Porównanie wyników XGB VS </a:t>
            </a:r>
            <a:r>
              <a:rPr lang="pl-PL" dirty="0" err="1"/>
              <a:t>rf</a:t>
            </a:r>
            <a:r>
              <a:rPr lang="pl-PL" dirty="0"/>
              <a:t> (b)</a:t>
            </a:r>
          </a:p>
        </p:txBody>
      </p:sp>
      <p:graphicFrame>
        <p:nvGraphicFramePr>
          <p:cNvPr id="40" name="Zawartość — symbol zastępczy 39">
            <a:extLst>
              <a:ext uri="{FF2B5EF4-FFF2-40B4-BE49-F238E27FC236}">
                <a16:creationId xmlns:a16="http://schemas.microsoft.com/office/drawing/2014/main" id="{E3BE11B0-FF8B-CE7E-3A04-77E8482569C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266644704"/>
              </p:ext>
            </p:extLst>
          </p:nvPr>
        </p:nvGraphicFramePr>
        <p:xfrm>
          <a:off x="692949" y="1129292"/>
          <a:ext cx="7655604" cy="506904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090444">
                  <a:extLst>
                    <a:ext uri="{9D8B030D-6E8A-4147-A177-3AD203B41FA5}">
                      <a16:colId xmlns:a16="http://schemas.microsoft.com/office/drawing/2014/main" val="1517755082"/>
                    </a:ext>
                  </a:extLst>
                </a:gridCol>
                <a:gridCol w="1657978">
                  <a:extLst>
                    <a:ext uri="{9D8B030D-6E8A-4147-A177-3AD203B41FA5}">
                      <a16:colId xmlns:a16="http://schemas.microsoft.com/office/drawing/2014/main" val="2446386500"/>
                    </a:ext>
                  </a:extLst>
                </a:gridCol>
                <a:gridCol w="1125416">
                  <a:extLst>
                    <a:ext uri="{9D8B030D-6E8A-4147-A177-3AD203B41FA5}">
                      <a16:colId xmlns:a16="http://schemas.microsoft.com/office/drawing/2014/main" val="3308918160"/>
                    </a:ext>
                  </a:extLst>
                </a:gridCol>
                <a:gridCol w="1346479">
                  <a:extLst>
                    <a:ext uri="{9D8B030D-6E8A-4147-A177-3AD203B41FA5}">
                      <a16:colId xmlns:a16="http://schemas.microsoft.com/office/drawing/2014/main" val="1854486728"/>
                    </a:ext>
                  </a:extLst>
                </a:gridCol>
                <a:gridCol w="1435287">
                  <a:extLst>
                    <a:ext uri="{9D8B030D-6E8A-4147-A177-3AD203B41FA5}">
                      <a16:colId xmlns:a16="http://schemas.microsoft.com/office/drawing/2014/main" val="1808496511"/>
                    </a:ext>
                  </a:extLst>
                </a:gridCol>
              </a:tblGrid>
              <a:tr h="412269">
                <a:tc>
                  <a:txBody>
                    <a:bodyPr/>
                    <a:lstStyle/>
                    <a:p>
                      <a:pPr algn="r" rtl="0"/>
                      <a:r>
                        <a:rPr lang="pl-PL" sz="2000" b="1" cap="all" spc="400" baseline="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PRECISSION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pl-PL" sz="1600" b="1" cap="all" spc="200" noProof="0" dirty="0">
                          <a:solidFill>
                            <a:schemeClr val="accent6"/>
                          </a:solidFill>
                          <a:latin typeface="Century Gothic" panose="020B0502020202020204" pitchFamily="34" charset="0"/>
                        </a:rPr>
                        <a:t>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351803"/>
                  </a:ext>
                </a:extLst>
              </a:tr>
              <a:tr h="355174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282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628125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0.61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0.38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0.47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165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382780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2​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0.79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438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4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Macro </a:t>
                      </a:r>
                      <a:r>
                        <a:rPr lang="pl-PL" sz="1200" b="0" i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756459"/>
                  </a:ext>
                </a:extLst>
              </a:tr>
              <a:tr h="377357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Weighted</a:t>
                      </a:r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 </a:t>
                      </a:r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r>
                        <a:rPr lang="pl-PL" sz="1200" b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​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0.79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0.78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575269"/>
                  </a:ext>
                </a:extLst>
              </a:tr>
              <a:tr h="356068">
                <a:tc>
                  <a:txBody>
                    <a:bodyPr/>
                    <a:lstStyle/>
                    <a:p>
                      <a:pPr algn="l" rtl="0" fontAlgn="base"/>
                      <a:r>
                        <a:rPr lang="pl-PL" sz="1200" b="1" u="none" strike="noStrike" cap="all" spc="20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ACCURACY: 78.87%</a:t>
                      </a:r>
                      <a:endParaRPr lang="pl-PL" sz="1200" b="0" i="0" cap="all" spc="200" baseline="0" noProof="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Trójklasowy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[D, E, G]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0.79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7705"/>
                  </a:ext>
                </a:extLst>
              </a:tr>
              <a:tr h="363010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282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867358"/>
                  </a:ext>
                </a:extLst>
              </a:tr>
              <a:tr h="367649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1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603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14081"/>
                  </a:ext>
                </a:extLst>
              </a:tr>
              <a:tr h="360261"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267748"/>
                  </a:ext>
                </a:extLst>
              </a:tr>
              <a:tr h="345153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Macro </a:t>
                      </a:r>
                      <a:r>
                        <a:rPr lang="pl-PL" sz="1200" b="0" i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0.88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341114"/>
                  </a:ext>
                </a:extLst>
              </a:tr>
              <a:tr h="350729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Weighted</a:t>
                      </a:r>
                      <a:r>
                        <a:rPr lang="pl-PL" sz="1200" b="0" u="none" strike="noStrike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 </a:t>
                      </a:r>
                      <a:r>
                        <a:rPr lang="pl-PL" sz="1200" b="0" u="none" strike="noStrike" noProof="0" dirty="0" err="1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avg</a:t>
                      </a:r>
                      <a:r>
                        <a:rPr lang="pl-PL" sz="1200" b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​</a:t>
                      </a:r>
                      <a:endParaRPr lang="pl-PL" sz="1200" b="0" i="0" noProof="0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alibri Light" panose="020F030202020403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7110"/>
                  </a:ext>
                </a:extLst>
              </a:tr>
              <a:tr h="354904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1" u="none" strike="noStrike" cap="all" spc="20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ACCURACY: 89.60%</a:t>
                      </a:r>
                      <a:endParaRPr lang="pl-PL" sz="1200" b="0" i="0" cap="all" spc="200" baseline="0" noProof="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Dwuklasowy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[D, E+G]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0.90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885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74008"/>
                  </a:ext>
                </a:extLst>
              </a:tr>
              <a:tr h="354904"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+10,73%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+0.12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+0.11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</a:rPr>
                        <a:t>+0.11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pl-PL" sz="1200" b="0" i="0" noProof="0" dirty="0">
                          <a:solidFill>
                            <a:srgbClr val="FFFF00"/>
                          </a:solidFill>
                          <a:effectLst/>
                          <a:latin typeface="Calibri Light" panose="020F0302020204030204" pitchFamily="34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353374"/>
                  </a:ext>
                </a:extLst>
              </a:tr>
            </a:tbl>
          </a:graphicData>
        </a:graphic>
      </p:graphicFrame>
      <p:sp>
        <p:nvSpPr>
          <p:cNvPr id="33" name="Numer slajdu — symbol zastępczy 32">
            <a:extLst>
              <a:ext uri="{FF2B5EF4-FFF2-40B4-BE49-F238E27FC236}">
                <a16:creationId xmlns:a16="http://schemas.microsoft.com/office/drawing/2014/main" id="{E77A985D-A037-2DE8-9739-A1C453FE0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 rtl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0762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ytuł 45">
            <a:extLst>
              <a:ext uri="{FF2B5EF4-FFF2-40B4-BE49-F238E27FC236}">
                <a16:creationId xmlns:a16="http://schemas.microsoft.com/office/drawing/2014/main" id="{33E47C41-D39A-4245-A7A3-ED0AB850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264" y="1380501"/>
            <a:ext cx="6162498" cy="991689"/>
          </a:xfrm>
        </p:spPr>
        <p:txBody>
          <a:bodyPr rtlCol="0"/>
          <a:lstStyle/>
          <a:p>
            <a:pPr rtl="0"/>
            <a:r>
              <a:rPr lang="pl-PL" dirty="0"/>
              <a:t>PRZEDSTAWIENIE WYNIKÓW KLASYFIKACJI </a:t>
            </a:r>
          </a:p>
        </p:txBody>
      </p:sp>
      <p:sp>
        <p:nvSpPr>
          <p:cNvPr id="13" name="Tekst — symbol zastępczy 12">
            <a:extLst>
              <a:ext uri="{FF2B5EF4-FFF2-40B4-BE49-F238E27FC236}">
                <a16:creationId xmlns:a16="http://schemas.microsoft.com/office/drawing/2014/main" id="{5B0169F7-C655-419A-837E-361F2B2148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2337" y="3164805"/>
            <a:ext cx="2693128" cy="1227866"/>
          </a:xfrm>
        </p:spPr>
        <p:txBody>
          <a:bodyPr rtlCol="0"/>
          <a:lstStyle/>
          <a:p>
            <a:pPr lvl="0" rtl="0"/>
            <a:r>
              <a:rPr lang="pl-PL" sz="3600" dirty="0"/>
              <a:t>RANDOM FOREST</a:t>
            </a:r>
          </a:p>
        </p:txBody>
      </p:sp>
      <p:sp>
        <p:nvSpPr>
          <p:cNvPr id="24" name="Tekst — symbol zastępczy 23">
            <a:extLst>
              <a:ext uri="{FF2B5EF4-FFF2-40B4-BE49-F238E27FC236}">
                <a16:creationId xmlns:a16="http://schemas.microsoft.com/office/drawing/2014/main" id="{3686A163-9DC0-4062-B9F2-7356DCF3AE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2336" y="4670980"/>
            <a:ext cx="2693129" cy="1307787"/>
          </a:xfrm>
        </p:spPr>
        <p:txBody>
          <a:bodyPr rtlCol="0"/>
          <a:lstStyle/>
          <a:p>
            <a:pPr marL="285750" indent="-285750">
              <a:buFontTx/>
              <a:buChar char="-"/>
            </a:pPr>
            <a:r>
              <a:rPr lang="pl-PL" dirty="0" err="1"/>
              <a:t>Accuracy</a:t>
            </a:r>
            <a:r>
              <a:rPr lang="pl-PL" dirty="0"/>
              <a:t>: </a:t>
            </a:r>
            <a:r>
              <a:rPr lang="pl-PL" b="1" dirty="0">
                <a:solidFill>
                  <a:srgbClr val="92D050"/>
                </a:solidFill>
              </a:rPr>
              <a:t>0.7763</a:t>
            </a:r>
          </a:p>
          <a:p>
            <a:pPr marL="285750" indent="-285750">
              <a:buFontTx/>
              <a:buChar char="-"/>
            </a:pPr>
            <a:r>
              <a:rPr lang="pl-PL" dirty="0"/>
              <a:t>Precision: </a:t>
            </a:r>
            <a:r>
              <a:rPr lang="pl-PL" b="1" dirty="0">
                <a:solidFill>
                  <a:srgbClr val="92D050"/>
                </a:solidFill>
              </a:rPr>
              <a:t>0.7320</a:t>
            </a:r>
          </a:p>
          <a:p>
            <a:pPr marL="285750" indent="-285750">
              <a:buFontTx/>
              <a:buChar char="-"/>
            </a:pPr>
            <a:r>
              <a:rPr lang="pl-PL" dirty="0" err="1"/>
              <a:t>Recall</a:t>
            </a:r>
            <a:r>
              <a:rPr lang="pl-PL" dirty="0"/>
              <a:t>: </a:t>
            </a:r>
            <a:r>
              <a:rPr lang="pl-PL" b="1" dirty="0">
                <a:solidFill>
                  <a:srgbClr val="FFFF00"/>
                </a:solidFill>
              </a:rPr>
              <a:t>0.6948</a:t>
            </a:r>
          </a:p>
          <a:p>
            <a:pPr marL="285750" indent="-285750">
              <a:buFontTx/>
              <a:buChar char="-"/>
            </a:pPr>
            <a:r>
              <a:rPr lang="pl-PL" dirty="0"/>
              <a:t>F1-score: </a:t>
            </a:r>
            <a:r>
              <a:rPr lang="pl-PL" b="1" dirty="0">
                <a:solidFill>
                  <a:srgbClr val="FFFF00"/>
                </a:solidFill>
              </a:rPr>
              <a:t>0.7045</a:t>
            </a:r>
            <a:endParaRPr lang="pl-PL" dirty="0">
              <a:solidFill>
                <a:srgbClr val="FFFF00"/>
              </a:solidFill>
            </a:endParaRPr>
          </a:p>
        </p:txBody>
      </p:sp>
      <p:sp>
        <p:nvSpPr>
          <p:cNvPr id="52" name="Tekst — symbol zastępczy 51">
            <a:extLst>
              <a:ext uri="{FF2B5EF4-FFF2-40B4-BE49-F238E27FC236}">
                <a16:creationId xmlns:a16="http://schemas.microsoft.com/office/drawing/2014/main" id="{A6CE42C0-A515-44EB-BC74-1BABB144F8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87933" y="3164805"/>
            <a:ext cx="2772674" cy="1227866"/>
          </a:xfrm>
        </p:spPr>
        <p:txBody>
          <a:bodyPr rtlCol="0"/>
          <a:lstStyle/>
          <a:p>
            <a:pPr rtl="0"/>
            <a:r>
              <a:rPr lang="pl-PL" sz="3600" dirty="0"/>
              <a:t>XGBOOST</a:t>
            </a:r>
          </a:p>
        </p:txBody>
      </p:sp>
      <p:sp>
        <p:nvSpPr>
          <p:cNvPr id="26" name="Tekst — symbol zastępczy 25">
            <a:extLst>
              <a:ext uri="{FF2B5EF4-FFF2-40B4-BE49-F238E27FC236}">
                <a16:creationId xmlns:a16="http://schemas.microsoft.com/office/drawing/2014/main" id="{8182F801-E17C-4A69-AD17-239F51B8AA2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83529" y="3164805"/>
            <a:ext cx="3263372" cy="1227866"/>
          </a:xfrm>
        </p:spPr>
        <p:txBody>
          <a:bodyPr rtlCol="0"/>
          <a:lstStyle/>
          <a:p>
            <a:pPr rtl="0"/>
            <a:r>
              <a:rPr lang="pl-PL" sz="3600" dirty="0" err="1"/>
              <a:t>Random</a:t>
            </a:r>
            <a:r>
              <a:rPr lang="pl-PL" sz="3600" dirty="0"/>
              <a:t> </a:t>
            </a:r>
            <a:r>
              <a:rPr lang="pl-PL" sz="3600" dirty="0" err="1"/>
              <a:t>forest</a:t>
            </a:r>
            <a:r>
              <a:rPr lang="pl-PL" sz="3600" dirty="0"/>
              <a:t> (B)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C7C97396-5C5E-4112-B44F-BAEFC9E0A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 rtl="0"/>
              <a:t>19</a:t>
            </a:fld>
            <a:endParaRPr lang="pl-PL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645F8A3-F409-4E82-902F-3686B4C0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1114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24785493-3983-4D5B-89C1-18CAAE0A8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76709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CEE9FFB6-DC81-4156-AEF7-2BDD543C8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72306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kst — symbol zastępczy 23">
            <a:extLst>
              <a:ext uri="{FF2B5EF4-FFF2-40B4-BE49-F238E27FC236}">
                <a16:creationId xmlns:a16="http://schemas.microsoft.com/office/drawing/2014/main" id="{BC253389-EAA7-745B-A4F0-1668537625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87750" y="4670425"/>
            <a:ext cx="2693988" cy="1152525"/>
          </a:xfrm>
        </p:spPr>
        <p:txBody>
          <a:bodyPr rtlCol="0"/>
          <a:lstStyle/>
          <a:p>
            <a:pPr marL="285750" indent="-285750">
              <a:buFontTx/>
              <a:buChar char="-"/>
            </a:pPr>
            <a:r>
              <a:rPr lang="pl-PL" dirty="0" err="1"/>
              <a:t>Accuracy</a:t>
            </a:r>
            <a:r>
              <a:rPr lang="pl-PL" dirty="0"/>
              <a:t>: </a:t>
            </a:r>
            <a:r>
              <a:rPr lang="pl-PL" b="1" dirty="0">
                <a:solidFill>
                  <a:srgbClr val="92D050"/>
                </a:solidFill>
              </a:rPr>
              <a:t>0.7887</a:t>
            </a:r>
          </a:p>
          <a:p>
            <a:pPr marL="285750" indent="-285750">
              <a:buFontTx/>
              <a:buChar char="-"/>
            </a:pPr>
            <a:r>
              <a:rPr lang="pl-PL" dirty="0"/>
              <a:t>Precision: </a:t>
            </a:r>
            <a:r>
              <a:rPr lang="pl-PL" b="1" dirty="0">
                <a:solidFill>
                  <a:srgbClr val="92D050"/>
                </a:solidFill>
              </a:rPr>
              <a:t>0.7887</a:t>
            </a:r>
          </a:p>
          <a:p>
            <a:pPr marL="285750" indent="-285750">
              <a:buFontTx/>
              <a:buChar char="-"/>
            </a:pPr>
            <a:r>
              <a:rPr lang="pl-PL" dirty="0" err="1"/>
              <a:t>Recall</a:t>
            </a:r>
            <a:r>
              <a:rPr lang="pl-PL" dirty="0"/>
              <a:t>: </a:t>
            </a:r>
            <a:r>
              <a:rPr lang="pl-PL" b="1" dirty="0">
                <a:solidFill>
                  <a:srgbClr val="FFFF00"/>
                </a:solidFill>
              </a:rPr>
              <a:t>0.7182</a:t>
            </a:r>
          </a:p>
          <a:p>
            <a:pPr marL="285750" indent="-285750">
              <a:buFontTx/>
              <a:buChar char="-"/>
            </a:pPr>
            <a:r>
              <a:rPr lang="pl-PL" dirty="0"/>
              <a:t>F1-score: </a:t>
            </a:r>
            <a:r>
              <a:rPr lang="pl-PL" b="1" dirty="0">
                <a:solidFill>
                  <a:srgbClr val="92D050"/>
                </a:solidFill>
              </a:rPr>
              <a:t>0.7752</a:t>
            </a:r>
            <a:endParaRPr lang="pl-PL" dirty="0">
              <a:solidFill>
                <a:srgbClr val="92D050"/>
              </a:solidFill>
            </a:endParaRPr>
          </a:p>
        </p:txBody>
      </p:sp>
      <p:sp>
        <p:nvSpPr>
          <p:cNvPr id="10" name="Tekst — symbol zastępczy 23">
            <a:extLst>
              <a:ext uri="{FF2B5EF4-FFF2-40B4-BE49-F238E27FC236}">
                <a16:creationId xmlns:a16="http://schemas.microsoft.com/office/drawing/2014/main" id="{9C77AFB0-1925-7F45-5A5C-E860C6C651C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83350" y="4670425"/>
            <a:ext cx="2693988" cy="1152525"/>
          </a:xfrm>
        </p:spPr>
        <p:txBody>
          <a:bodyPr rtlCol="0"/>
          <a:lstStyle/>
          <a:p>
            <a:pPr marL="285750" indent="-285750">
              <a:buFontTx/>
              <a:buChar char="-"/>
            </a:pPr>
            <a:r>
              <a:rPr lang="pl-PL" dirty="0" err="1"/>
              <a:t>Accuracy</a:t>
            </a:r>
            <a:r>
              <a:rPr lang="pl-PL" dirty="0"/>
              <a:t>: </a:t>
            </a:r>
            <a:r>
              <a:rPr lang="pl-PL" b="1" dirty="0">
                <a:solidFill>
                  <a:srgbClr val="00B050"/>
                </a:solidFill>
              </a:rPr>
              <a:t>0.8915</a:t>
            </a:r>
          </a:p>
          <a:p>
            <a:pPr marL="285750" indent="-285750">
              <a:buFontTx/>
              <a:buChar char="-"/>
            </a:pPr>
            <a:r>
              <a:rPr lang="pl-PL" dirty="0"/>
              <a:t>Precision: </a:t>
            </a:r>
            <a:r>
              <a:rPr lang="pl-PL" b="1" dirty="0">
                <a:solidFill>
                  <a:srgbClr val="00B050"/>
                </a:solidFill>
              </a:rPr>
              <a:t>0.8841</a:t>
            </a:r>
          </a:p>
          <a:p>
            <a:pPr marL="285750" indent="-285750">
              <a:buFontTx/>
              <a:buChar char="-"/>
            </a:pPr>
            <a:r>
              <a:rPr lang="pl-PL" dirty="0" err="1"/>
              <a:t>Recall</a:t>
            </a:r>
            <a:r>
              <a:rPr lang="pl-PL" dirty="0"/>
              <a:t>: </a:t>
            </a:r>
            <a:r>
              <a:rPr lang="pl-PL" b="1" dirty="0">
                <a:solidFill>
                  <a:srgbClr val="00B050"/>
                </a:solidFill>
              </a:rPr>
              <a:t>0.8896</a:t>
            </a:r>
          </a:p>
          <a:p>
            <a:pPr marL="285750" indent="-285750">
              <a:buFontTx/>
              <a:buChar char="-"/>
            </a:pPr>
            <a:r>
              <a:rPr lang="pl-PL" dirty="0"/>
              <a:t>F1-score: </a:t>
            </a:r>
            <a:r>
              <a:rPr lang="pl-PL" b="1" dirty="0">
                <a:solidFill>
                  <a:srgbClr val="00B050"/>
                </a:solidFill>
              </a:rPr>
              <a:t>0.8873</a:t>
            </a:r>
            <a:endParaRPr lang="pl-PL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613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ytuł 17">
            <a:extLst>
              <a:ext uri="{FF2B5EF4-FFF2-40B4-BE49-F238E27FC236}">
                <a16:creationId xmlns:a16="http://schemas.microsoft.com/office/drawing/2014/main" id="{8A6AD16E-8FB5-4AC7-941E-313FBED6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441" y="1259911"/>
            <a:ext cx="5124189" cy="492302"/>
          </a:xfrm>
        </p:spPr>
        <p:txBody>
          <a:bodyPr rtlCol="0"/>
          <a:lstStyle/>
          <a:p>
            <a:pPr rtl="0"/>
            <a:r>
              <a:rPr lang="pl-PL"/>
              <a:t>Podsumowanie</a:t>
            </a:r>
          </a:p>
        </p:txBody>
      </p:sp>
      <p:sp>
        <p:nvSpPr>
          <p:cNvPr id="22" name="Tekst — symbol zastępczy 21">
            <a:extLst>
              <a:ext uri="{FF2B5EF4-FFF2-40B4-BE49-F238E27FC236}">
                <a16:creationId xmlns:a16="http://schemas.microsoft.com/office/drawing/2014/main" id="{A3F3E4C8-A3E9-4D1E-AAF8-A6C4EF21F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1752212"/>
            <a:ext cx="4856479" cy="2712696"/>
          </a:xfrm>
        </p:spPr>
        <p:txBody>
          <a:bodyPr rtlCol="0"/>
          <a:lstStyle/>
          <a:p>
            <a:pPr rtl="0"/>
            <a:r>
              <a:rPr lang="pl-PL" dirty="0"/>
              <a:t>- Dla wybranych modeli klasyfikacji, </a:t>
            </a:r>
            <a:r>
              <a:rPr lang="pl-PL" b="1" dirty="0" err="1"/>
              <a:t>XGBoost</a:t>
            </a:r>
            <a:r>
              <a:rPr lang="pl-PL" dirty="0"/>
              <a:t> okazał się być najlepszym modelem w wersji trójklasowej.</a:t>
            </a:r>
          </a:p>
          <a:p>
            <a:pPr rtl="0"/>
            <a:endParaRPr lang="pl-PL" dirty="0"/>
          </a:p>
          <a:p>
            <a:pPr rtl="0"/>
            <a:r>
              <a:rPr lang="pl-PL" dirty="0"/>
              <a:t>-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 pomimo optymalizacji poprawił się tylko nieznacznie i nie przewyższył wyników  </a:t>
            </a:r>
            <a:r>
              <a:rPr lang="pl-PL" dirty="0" err="1"/>
              <a:t>XGBoost</a:t>
            </a:r>
            <a:r>
              <a:rPr lang="pl-PL" dirty="0"/>
              <a:t>.</a:t>
            </a:r>
          </a:p>
          <a:p>
            <a:pPr rtl="0"/>
            <a:endParaRPr lang="pl-PL" dirty="0"/>
          </a:p>
          <a:p>
            <a:pPr rtl="0"/>
            <a:r>
              <a:rPr lang="pl-PL" dirty="0"/>
              <a:t>- Po połączeniu klas </a:t>
            </a:r>
            <a:r>
              <a:rPr lang="pl-PL" dirty="0" err="1"/>
              <a:t>Enrolled</a:t>
            </a:r>
            <a:r>
              <a:rPr lang="pl-PL" dirty="0"/>
              <a:t> i </a:t>
            </a:r>
            <a:r>
              <a:rPr lang="pl-PL" dirty="0" err="1"/>
              <a:t>Graduate</a:t>
            </a:r>
            <a:r>
              <a:rPr lang="pl-PL" dirty="0"/>
              <a:t> zadanie klasyfikacji stało się prostsze, a model łatwiej oddziela studentów, którzy </a:t>
            </a:r>
            <a:r>
              <a:rPr lang="pl-PL" b="1" dirty="0"/>
              <a:t>porzucili studia</a:t>
            </a:r>
            <a:r>
              <a:rPr lang="pl-PL" dirty="0"/>
              <a:t>, od tych, którzy </a:t>
            </a:r>
            <a:r>
              <a:rPr lang="pl-PL" b="1" dirty="0"/>
              <a:t>pozostaną w systemie</a:t>
            </a:r>
            <a:r>
              <a:rPr lang="pl-PL" dirty="0"/>
              <a:t>. </a:t>
            </a:r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312822BD-8CF7-4472-A607-0DD012817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FEA145A6-660C-42A7-85AF-AF42E3C0A892}" type="slidenum">
              <a:rPr lang="pl-PL" smtClean="0"/>
              <a:pPr rtl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6034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ytuł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 rtlCol="0"/>
          <a:lstStyle/>
          <a:p>
            <a:pPr rtl="0"/>
            <a:r>
              <a:rPr lang="pl-PL"/>
              <a:t>Dziękujemy 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6852" y="3531676"/>
            <a:ext cx="4989628" cy="1361871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Adam Kondratiuk</a:t>
            </a:r>
          </a:p>
          <a:p>
            <a:pPr rtl="0"/>
            <a:r>
              <a:rPr lang="pl-PL" dirty="0"/>
              <a:t>Kacper Kowalczyk</a:t>
            </a:r>
          </a:p>
          <a:p>
            <a:pPr rtl="0"/>
            <a:r>
              <a:rPr lang="pl-PL" dirty="0"/>
              <a:t>Mateusz Włodkowski</a:t>
            </a:r>
          </a:p>
        </p:txBody>
      </p:sp>
      <p:sp>
        <p:nvSpPr>
          <p:cNvPr id="22" name="Numer slajdu — symbol zastępczy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rtlCol="0"/>
          <a:lstStyle/>
          <a:p>
            <a:pPr rtl="0"/>
            <a:fld id="{8D1FC6F8-0BCD-47E9-9C64-690771D9C143}" type="slidenum">
              <a:rPr lang="pl-PL" smtClean="0"/>
              <a:pPr rtl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6061965_TF56488565_Win32" id="{FB71B76D-CEB7-4DEB-BE8E-0E3D31609390}" vid="{9B8D5277-43DE-4850-8FF0-4810F2AB2C39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8A4BC3-D1CE-4BB2-9C42-D67FD92CA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989D7-CF02-4DC5-9433-98B600ACA0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Nowoczesna prezentacja</Template>
  <TotalTime>136</TotalTime>
  <Words>926</Words>
  <Application>Microsoft Office PowerPoint</Application>
  <PresentationFormat>Panoramiczny</PresentationFormat>
  <Paragraphs>274</Paragraphs>
  <Slides>21</Slides>
  <Notes>21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Courier New</vt:lpstr>
      <vt:lpstr>Wingdings</vt:lpstr>
      <vt:lpstr>Motyw pakietu Office</vt:lpstr>
      <vt:lpstr>ANALIZa zbioru danych</vt:lpstr>
      <vt:lpstr>Cel projektu:</vt:lpstr>
      <vt:lpstr>Analiza zbioru danych</vt:lpstr>
      <vt:lpstr>Wstępna obróbka danych</vt:lpstr>
      <vt:lpstr>Usunięte kolumny ze zbioru danych</vt:lpstr>
      <vt:lpstr>Heatmapa korelacji</vt:lpstr>
      <vt:lpstr>WYKRES WIEKU</vt:lpstr>
      <vt:lpstr>Wybór modeli</vt:lpstr>
      <vt:lpstr>WYBÓR MODELI klasyfikacji zbioru</vt:lpstr>
      <vt:lpstr>Wykres przedstawiający top 10 najważniejszych cech według random forest</vt:lpstr>
      <vt:lpstr>Macierz pomyłek  RANDOM FOREST</vt:lpstr>
      <vt:lpstr>Rozkład klas -  RANDOM FOREST</vt:lpstr>
      <vt:lpstr>Rozkład klas -  binary RANDOM FOREST</vt:lpstr>
      <vt:lpstr>Porównanie wyników rf VS rf (b)</vt:lpstr>
      <vt:lpstr>Wykres przedstawiający top 10 najważniejszych cech według xgbOOST</vt:lpstr>
      <vt:lpstr>Macierz pomyłek  xgboost</vt:lpstr>
      <vt:lpstr>Rozkład klas -  xgboost</vt:lpstr>
      <vt:lpstr>Porównanie wyników XGB VS rf (b)</vt:lpstr>
      <vt:lpstr>PRZEDSTAWIENIE WYNIKÓW KLASYFIKACJI </vt:lpstr>
      <vt:lpstr>Podsumowanie</vt:lpstr>
      <vt:lpstr>Dziękujemy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Kondratiuk</dc:creator>
  <cp:lastModifiedBy>Adam Kondratiuk</cp:lastModifiedBy>
  <cp:revision>2</cp:revision>
  <dcterms:created xsi:type="dcterms:W3CDTF">2026-06-15T13:48:52Z</dcterms:created>
  <dcterms:modified xsi:type="dcterms:W3CDTF">2026-06-15T16:05:07Z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